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8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drive/folders/1AN-" TargetMode="External"/><Relationship Id="rId13" Type="http://schemas.openxmlformats.org/officeDocument/2006/relationships/image" Target="../media/image9.jpeg"/><Relationship Id="rId3" Type="http://schemas.openxmlformats.org/officeDocument/2006/relationships/hyperlink" Target="https://www.science.org/doi/10.1126/scirobotics.abp9742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avigation.ros.org/" TargetMode="External"/><Relationship Id="rId11" Type="http://schemas.openxmlformats.org/officeDocument/2006/relationships/hyperlink" Target="https://youtube.com/shorts/cCB2XQQ_4Ew?si=7JsAbaE7Y5XlR80W" TargetMode="External"/><Relationship Id="rId5" Type="http://schemas.openxmlformats.org/officeDocument/2006/relationships/hyperlink" Target="https://dgms.gov.in/" TargetMode="External"/><Relationship Id="rId10" Type="http://schemas.openxmlformats.org/officeDocument/2006/relationships/hyperlink" Target="https://github.com/Gopinayak02/HANUMA_Weekly_Report" TargetMode="External"/><Relationship Id="rId4" Type="http://schemas.openxmlformats.org/officeDocument/2006/relationships/hyperlink" Target="https://www.darpa.mil/program/darpa-subterranean-challenge" TargetMode="External"/><Relationship Id="rId9" Type="http://schemas.openxmlformats.org/officeDocument/2006/relationships/hyperlink" Target="https://drive.google.com/drive/folders/1AN-MhGUkb1pW22zvBqY6sv8BgVrvYtHC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06630" y="2399714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2064" y="532668"/>
            <a:ext cx="116986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SIH26039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Al-Powered Underground Mine Safety, Monitoring and Rescue System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SAR SQUADS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A31575-1862-E8DA-153E-6B8363DB3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427" y="1952629"/>
            <a:ext cx="7358057" cy="49053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802430" y="75832"/>
            <a:ext cx="10008137" cy="65867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HANUMA – HAZARD ANALYSIS &amp; NAVIGATION UNIT FOR MINE ASSISTANCE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93174" y="1353611"/>
            <a:ext cx="6209070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b="1" i="1" dirty="0">
                <a:solidFill>
                  <a:srgbClr val="FF0000"/>
                </a:solidFill>
              </a:rPr>
              <a:t>"HANUMA translates advanced subterranean robotics into a modular, low-cost inspection architecture combining multimodal sensing, resilient communication, and edge intelligence.“</a:t>
            </a:r>
          </a:p>
          <a:p>
            <a:pPr algn="just"/>
            <a:endParaRPr lang="en-US" sz="2000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SUBTERRANEAN HAZARDS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b="1" dirty="0"/>
              <a:t>1. HIGH-RISK ENVIRONMENT</a:t>
            </a:r>
            <a:endParaRPr lang="en-US" sz="2000" dirty="0"/>
          </a:p>
          <a:p>
            <a:pPr algn="just"/>
            <a:r>
              <a:rPr lang="en-US" dirty="0"/>
              <a:t>Underground mines present severe risks including </a:t>
            </a:r>
            <a:r>
              <a:rPr lang="en-US" b="1" dirty="0"/>
              <a:t>toxic gases</a:t>
            </a:r>
            <a:r>
              <a:rPr lang="en-US" dirty="0"/>
              <a:t>, </a:t>
            </a:r>
            <a:r>
              <a:rPr lang="en-US" b="1" dirty="0"/>
              <a:t>oxygen deficiency</a:t>
            </a:r>
            <a:r>
              <a:rPr lang="en-US" dirty="0"/>
              <a:t>, </a:t>
            </a:r>
            <a:r>
              <a:rPr lang="en-US" b="1" dirty="0"/>
              <a:t>dust</a:t>
            </a:r>
            <a:r>
              <a:rPr lang="en-US" dirty="0"/>
              <a:t>, </a:t>
            </a:r>
            <a:r>
              <a:rPr lang="en-US" b="1" dirty="0"/>
              <a:t>unstable terrain</a:t>
            </a:r>
            <a:r>
              <a:rPr lang="en-US" dirty="0"/>
              <a:t>, and </a:t>
            </a:r>
            <a:r>
              <a:rPr lang="en-US" b="1" dirty="0"/>
              <a:t>communication shadow zones</a:t>
            </a:r>
            <a:r>
              <a:rPr lang="en-US" dirty="0"/>
              <a:t>.</a:t>
            </a:r>
            <a:endParaRPr lang="en-US" sz="2000" dirty="0"/>
          </a:p>
          <a:p>
            <a:pPr algn="just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SOLUTION: HANUMA ROVER</a:t>
            </a:r>
            <a:endParaRPr lang="en-US" sz="2000" dirty="0"/>
          </a:p>
          <a:p>
            <a:r>
              <a:rPr lang="en-US" dirty="0"/>
              <a:t>A rugged </a:t>
            </a:r>
            <a:r>
              <a:rPr lang="en-US" b="1" dirty="0"/>
              <a:t>six-wheel rocker-bogie rover</a:t>
            </a:r>
            <a:r>
              <a:rPr lang="en-US" dirty="0"/>
              <a:t> that transforms human-first inspection into a remote, safe, and multimodal sensing operation, designed specifically to traverse and map extreme underground spaces.</a:t>
            </a:r>
            <a:endParaRPr lang="en-US" sz="2000" dirty="0"/>
          </a:p>
          <a:p>
            <a:endParaRPr lang="en-US" sz="2000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1500"/>
            <a:ext cx="138634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SAR </a:t>
            </a:r>
            <a:br>
              <a:rPr lang="en-IN" dirty="0"/>
            </a:br>
            <a:r>
              <a:rPr lang="en-IN" dirty="0"/>
              <a:t>SQUADS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102" y="1500"/>
            <a:ext cx="1543833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549D44-4162-F619-598B-644C9EB7D85D}"/>
              </a:ext>
            </a:extLst>
          </p:cNvPr>
          <p:cNvSpPr txBox="1"/>
          <p:nvPr/>
        </p:nvSpPr>
        <p:spPr>
          <a:xfrm>
            <a:off x="7197213" y="1399827"/>
            <a:ext cx="4832722" cy="437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US" b="1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CORE INNOVATIONS</a:t>
            </a:r>
            <a:endParaRPr lang="en-US" b="0" dirty="0">
              <a:effectLst/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en-US" b="1" i="0" u="none" strike="noStrike" dirty="0">
                <a:solidFill>
                  <a:srgbClr val="FF0000"/>
                </a:solidFill>
                <a:effectLst/>
                <a:latin typeface="Calibri" pitchFamily="34" charset="0"/>
              </a:rPr>
              <a:t>GPS-DENIED LOCALIZATION</a:t>
            </a:r>
            <a:endParaRPr lang="en-US" b="0" dirty="0">
              <a:solidFill>
                <a:srgbClr val="FF0000"/>
              </a:solidFill>
              <a:effectLst/>
            </a:endParaRPr>
          </a:p>
          <a:p>
            <a:pPr rtl="0">
              <a:spcBef>
                <a:spcPts val="150"/>
              </a:spcBef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Fusing 2D LiDAR, IMU, and wheel odometry.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b="1" i="0" u="none" strike="noStrike" dirty="0">
                <a:solidFill>
                  <a:srgbClr val="FF0000"/>
                </a:solidFill>
                <a:effectLst/>
                <a:latin typeface="Calibri" pitchFamily="34" charset="0"/>
              </a:rPr>
              <a:t>2.   MULTIMODAL HAZARD INTELLIGENCE</a:t>
            </a:r>
            <a:endParaRPr lang="en-US" b="0" dirty="0">
              <a:solidFill>
                <a:srgbClr val="FF0000"/>
              </a:solidFill>
              <a:effectLst/>
            </a:endParaRPr>
          </a:p>
          <a:p>
            <a:pPr rtl="0">
              <a:spcBef>
                <a:spcPts val="150"/>
              </a:spcBef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Integrating gas, thermal, vision, and environmental sensors.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b="1" i="0" u="none" strike="noStrike" dirty="0">
                <a:solidFill>
                  <a:srgbClr val="FF0000"/>
                </a:solidFill>
                <a:effectLst/>
                <a:latin typeface="Calibri" pitchFamily="34" charset="0"/>
              </a:rPr>
              <a:t>3.   RESILIENT COMMUNICATION</a:t>
            </a:r>
            <a:endParaRPr lang="en-US" b="0" dirty="0">
              <a:solidFill>
                <a:srgbClr val="FF0000"/>
              </a:solidFill>
              <a:effectLst/>
            </a:endParaRPr>
          </a:p>
          <a:p>
            <a:pPr rtl="0">
              <a:spcBef>
                <a:spcPts val="150"/>
              </a:spcBef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LoRa-based breadcrumb relay concept.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b="1" i="0" u="none" strike="noStrike" dirty="0">
                <a:solidFill>
                  <a:srgbClr val="FF0000"/>
                </a:solidFill>
                <a:effectLst/>
                <a:latin typeface="Calibri" pitchFamily="34" charset="0"/>
              </a:rPr>
              <a:t>4.   EDGE-AI ASSISTANCE</a:t>
            </a:r>
            <a:endParaRPr lang="en-US" b="0" dirty="0">
              <a:solidFill>
                <a:srgbClr val="FF0000"/>
              </a:solidFill>
              <a:effectLst/>
            </a:endParaRPr>
          </a:p>
          <a:p>
            <a:pPr rtl="0">
              <a:spcBef>
                <a:spcPts val="150"/>
              </a:spcBef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Local processing for rapid artifact interpretation.</a:t>
            </a:r>
            <a:endParaRPr lang="en-US" b="0" dirty="0">
              <a:effectLst/>
            </a:endParaRPr>
          </a:p>
          <a:p>
            <a:pPr rtl="0">
              <a:buNone/>
            </a:pPr>
            <a:r>
              <a:rPr lang="en-US" b="1" i="0" u="none" strike="noStrike" dirty="0">
                <a:solidFill>
                  <a:srgbClr val="FF0000"/>
                </a:solidFill>
                <a:effectLst/>
                <a:latin typeface="Calibri" pitchFamily="34" charset="0"/>
              </a:rPr>
              <a:t>5.   FAILSAFE AUTONOMY</a:t>
            </a:r>
            <a:endParaRPr lang="en-US" b="0" dirty="0">
              <a:solidFill>
                <a:srgbClr val="FF0000"/>
              </a:solidFill>
              <a:effectLst/>
            </a:endParaRPr>
          </a:p>
          <a:p>
            <a:pPr rtl="0">
              <a:spcBef>
                <a:spcPts val="150"/>
              </a:spcBef>
              <a:buNone/>
            </a:pPr>
            <a:r>
              <a:rPr lang="en-US" b="0" i="0" u="none" strike="noStrike" dirty="0">
                <a:solidFill>
                  <a:schemeClr val="tx1"/>
                </a:solidFill>
                <a:effectLst/>
                <a:latin typeface="Calibri" pitchFamily="34" charset="0"/>
              </a:rPr>
              <a:t>Proposed return-to-comms behavior to prevent rover abandonment.</a:t>
            </a:r>
            <a:endParaRPr lang="en-US" b="0" dirty="0">
              <a:effectLst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A6BF83-4E75-121D-A54D-941CF0D26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0"/>
            <a:ext cx="12191998" cy="68565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73626" y="-15439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1410537" cy="70613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SAR</a:t>
            </a:r>
            <a:br>
              <a:rPr lang="en-US" dirty="0"/>
            </a:br>
            <a:r>
              <a:rPr lang="en-US" dirty="0"/>
              <a:t>SQUADS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704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DEE9A9A-68FF-ABC4-BE16-40AB6E52E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" y="706130"/>
            <a:ext cx="12191998" cy="5751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7282EB-7996-DFAC-18E9-D64C556D7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" y="706130"/>
            <a:ext cx="12191996" cy="615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88916" y="-73744"/>
            <a:ext cx="10972800" cy="63817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50437"/>
            <a:ext cx="1548581" cy="50323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</a:t>
            </a:r>
            <a:r>
              <a:rPr lang="en-US" dirty="0"/>
              <a:t>AR </a:t>
            </a:r>
            <a:br>
              <a:rPr lang="en-US" dirty="0"/>
            </a:br>
            <a:r>
              <a:rPr lang="en-US" dirty="0"/>
              <a:t>SQUADS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5032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8DE0F0-30C8-521F-3C82-11A343EC86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387"/>
          <a:stretch>
            <a:fillRect/>
          </a:stretch>
        </p:blipFill>
        <p:spPr>
          <a:xfrm>
            <a:off x="0" y="575186"/>
            <a:ext cx="12192000" cy="628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1026" y="-32877"/>
            <a:ext cx="7333994" cy="56995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38" y="575579"/>
            <a:ext cx="7096330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b="1" dirty="0"/>
              <a:t>CERBERUS in the DARPA Subterranean Challenge (Science Robotics, 2022):</a:t>
            </a:r>
          </a:p>
          <a:p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3"/>
              </a:rPr>
              <a:t>https://www.science.org/doi/10.1126/scirobotics.abp9742</a:t>
            </a: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b="1" dirty="0"/>
              <a:t>DARPA Subterranean (</a:t>
            </a:r>
            <a:r>
              <a:rPr lang="en-US" b="1" dirty="0" err="1"/>
              <a:t>SubT</a:t>
            </a:r>
            <a:r>
              <a:rPr lang="en-US" b="1" dirty="0"/>
              <a:t>) Challenge Official Overview:</a:t>
            </a:r>
          </a:p>
          <a:p>
            <a:pPr lvl="0" algn="just">
              <a:defRPr/>
            </a:pPr>
            <a:r>
              <a:rPr lang="en-US" dirty="0">
                <a:hlinkClick r:id="rId4"/>
              </a:rPr>
              <a:t>https://www.darpa.mil/program/darpa-subterranean-challenge</a:t>
            </a:r>
            <a:endParaRPr lang="en-US" dirty="0"/>
          </a:p>
          <a:p>
            <a:pPr lvl="0" algn="just">
              <a:defRPr/>
            </a:pPr>
            <a:r>
              <a:rPr lang="en-US" b="1" dirty="0"/>
              <a:t>Directorate General of Mines Safety (DGMS) - Official Statistics &amp; Circulars:</a:t>
            </a:r>
          </a:p>
          <a:p>
            <a:pPr lvl="0" algn="just">
              <a:defRPr/>
            </a:pPr>
            <a:r>
              <a:rPr lang="en-US" dirty="0">
                <a:hlinkClick r:id="rId5"/>
              </a:rPr>
              <a:t>https://dgms.gov.in/</a:t>
            </a:r>
            <a:endParaRPr lang="en-US" b="1" dirty="0"/>
          </a:p>
          <a:p>
            <a:pPr lvl="0" algn="just">
              <a:defRPr/>
            </a:pPr>
            <a:r>
              <a:rPr lang="en-US" b="1" dirty="0"/>
              <a:t>ROS 2 Navigation2 (Nav2) Official Documentation:</a:t>
            </a:r>
          </a:p>
          <a:p>
            <a:pPr lvl="0" algn="just">
              <a:defRPr/>
            </a:pPr>
            <a:r>
              <a:rPr lang="en-US" dirty="0">
                <a:hlinkClick r:id="rId6"/>
              </a:rPr>
              <a:t>https://navigation.ros.org/</a:t>
            </a:r>
            <a:endParaRPr lang="en-US" dirty="0"/>
          </a:p>
          <a:p>
            <a:pPr lvl="0" algn="just">
              <a:defRPr/>
            </a:pPr>
            <a:endParaRPr lang="en-US" sz="1400" b="1" dirty="0"/>
          </a:p>
          <a:p>
            <a:pPr lvl="0" algn="just"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5699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CFA66C-A4F1-C0E3-0AF5-7100705BE7E4}"/>
              </a:ext>
            </a:extLst>
          </p:cNvPr>
          <p:cNvSpPr txBox="1"/>
          <p:nvPr/>
        </p:nvSpPr>
        <p:spPr>
          <a:xfrm>
            <a:off x="0" y="3543210"/>
            <a:ext cx="806736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OUTPUTS:- </a:t>
            </a:r>
            <a:r>
              <a:rPr lang="en-US" sz="1600" b="1" dirty="0">
                <a:hlinkClick r:id="rId8"/>
              </a:rPr>
              <a:t>https://drive.google.com/drive/folders/1AN-</a:t>
            </a:r>
            <a:r>
              <a:rPr lang="en-US" sz="1600" b="1" dirty="0">
                <a:hlinkClick r:id="rId9"/>
              </a:rPr>
              <a:t>MhGUkb1pW22zvBqY6sv8BgVrvYtHC?usp=sharing</a:t>
            </a:r>
            <a:r>
              <a:rPr lang="en-US" sz="1600" b="1" dirty="0"/>
              <a:t> </a:t>
            </a:r>
          </a:p>
          <a:p>
            <a:r>
              <a:rPr lang="en-US" sz="1600" dirty="0"/>
              <a:t>“”The above given link contains the outputs obtained from the testing of our original model/prototype.””</a:t>
            </a:r>
          </a:p>
          <a:p>
            <a:endParaRPr lang="en-US" sz="1400" dirty="0"/>
          </a:p>
          <a:p>
            <a:r>
              <a:rPr lang="en-US" b="1" dirty="0"/>
              <a:t>GITHUB:- </a:t>
            </a:r>
            <a:r>
              <a:rPr lang="en-US" sz="1600" b="1" dirty="0">
                <a:hlinkClick r:id="rId10"/>
              </a:rPr>
              <a:t>https://github.com/Gopinayak02/HANUMA_Weekly_Report</a:t>
            </a:r>
            <a:endParaRPr lang="en-US" sz="1600" b="1" dirty="0"/>
          </a:p>
          <a:p>
            <a:r>
              <a:rPr lang="en-US" sz="1600" dirty="0"/>
              <a:t>The Pipelines, we went through our model processing, and we also add the training .</a:t>
            </a:r>
            <a:r>
              <a:rPr lang="en-US" sz="1600" dirty="0" err="1"/>
              <a:t>pth</a:t>
            </a:r>
            <a:r>
              <a:rPr lang="en-US" sz="1600" dirty="0"/>
              <a:t> files to avail the trained weights directly.</a:t>
            </a:r>
          </a:p>
          <a:p>
            <a:endParaRPr lang="en-US" sz="1400" dirty="0"/>
          </a:p>
          <a:p>
            <a:r>
              <a:rPr lang="en-US" sz="1600" b="1" dirty="0"/>
              <a:t>NOTE:-</a:t>
            </a:r>
            <a:r>
              <a:rPr lang="en-US" sz="1600" dirty="0"/>
              <a:t> The model weights are under </a:t>
            </a:r>
            <a:r>
              <a:rPr lang="en-US" sz="1600" b="1" dirty="0"/>
              <a:t>re-enhancing stage </a:t>
            </a:r>
            <a:r>
              <a:rPr lang="en-US" sz="1600" dirty="0"/>
              <a:t>which will be released on and before i.e., </a:t>
            </a:r>
            <a:r>
              <a:rPr lang="en-US" sz="1600" b="1" dirty="0"/>
              <a:t>27/10/2026</a:t>
            </a:r>
            <a:r>
              <a:rPr lang="en-US" sz="1400" b="1" dirty="0"/>
              <a:t>.</a:t>
            </a:r>
          </a:p>
          <a:p>
            <a:endParaRPr lang="en-US" sz="1400" b="1" dirty="0"/>
          </a:p>
          <a:p>
            <a:r>
              <a:rPr lang="en-US" b="1" dirty="0"/>
              <a:t>YOUTUBE LINK</a:t>
            </a:r>
            <a:r>
              <a:rPr lang="en-US" sz="1400" b="1" dirty="0"/>
              <a:t>:- </a:t>
            </a:r>
            <a:r>
              <a:rPr lang="en-US" sz="1600" b="1" dirty="0">
                <a:hlinkClick r:id="rId11"/>
              </a:rPr>
              <a:t>https://youtube.com/shorts/cCB2XQQ_4Ew?si=7JsAbaE7Y5XlR80W</a:t>
            </a:r>
            <a:r>
              <a:rPr lang="en-US" sz="1600" b="1" dirty="0"/>
              <a:t> </a:t>
            </a:r>
          </a:p>
          <a:p>
            <a:endParaRPr lang="en-US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FBFD7-53EE-FD99-E6F7-2BB3E0F515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28780" y="-47625"/>
            <a:ext cx="4463220" cy="3631318"/>
          </a:xfrm>
          <a:prstGeom prst="rect">
            <a:avLst/>
          </a:prstGeom>
        </p:spPr>
      </p:pic>
      <p:pic>
        <p:nvPicPr>
          <p:cNvPr id="5" name="Picture 4" descr="View image">
            <a:extLst>
              <a:ext uri="{FF2B5EF4-FFF2-40B4-BE49-F238E27FC236}">
                <a16:creationId xmlns:a16="http://schemas.microsoft.com/office/drawing/2014/main" id="{D613ABD4-5246-D2ED-1CFD-05E7F9E8368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4476" b="8407"/>
          <a:stretch>
            <a:fillRect/>
          </a:stretch>
        </p:blipFill>
        <p:spPr>
          <a:xfrm>
            <a:off x="8303342" y="3583693"/>
            <a:ext cx="3888658" cy="327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7956</TotalTime>
  <Words>454</Words>
  <Application>Microsoft Office PowerPoint</Application>
  <PresentationFormat>Widescreen</PresentationFormat>
  <Paragraphs>68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HANUMA – HAZARD ANALYSIS &amp; NAVIGATION UNIT FOR MINE ASSISTANCE</vt:lpstr>
      <vt:lpstr>PowerPoint Presentation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BANAVATH VENKAT GOPI NAYAK</cp:lastModifiedBy>
  <cp:revision>151</cp:revision>
  <dcterms:created xsi:type="dcterms:W3CDTF">2013-12-12T18:46:50Z</dcterms:created>
  <dcterms:modified xsi:type="dcterms:W3CDTF">2026-09-02T20:09:30Z</dcterms:modified>
  <cp:category/>
</cp:coreProperties>
</file>