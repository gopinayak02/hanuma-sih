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5" d="100"/>
          <a:sy n="55" d="100"/>
        </p:scale>
        <p:origin x="34" y="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B62F8-5EC5-4C02-A52F-C6FECBAACE34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B64F55-C708-474A-A0B2-D8DCD480D0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398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163" y="1143000"/>
            <a:ext cx="55276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1000" y="6350000"/>
            <a:ext cx="3098800" cy="14732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9500" y="2984500"/>
            <a:ext cx="1701800" cy="17018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52100" y="6121400"/>
            <a:ext cx="5080000" cy="17272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74300" y="3924300"/>
            <a:ext cx="5435600" cy="6985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74300" y="3136900"/>
            <a:ext cx="5435600" cy="6985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81700" y="977900"/>
            <a:ext cx="622300" cy="571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184400" y="1596249"/>
            <a:ext cx="13106400" cy="339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85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184400" y="5122898"/>
            <a:ext cx="13106400" cy="235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422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413"/>
            </a:lvl1pPr>
            <a:lvl2pPr lvl="1" algn="ctr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44"/>
            </a:lvl2pPr>
            <a:lvl3pPr lvl="2" algn="ctr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560"/>
            </a:lvl3pPr>
            <a:lvl4pPr lvl="3" algn="ctr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276"/>
            </a:lvl4pPr>
            <a:lvl5pPr lvl="4" algn="ctr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276"/>
            </a:lvl5pPr>
            <a:lvl6pPr lvl="5" algn="ctr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276"/>
            </a:lvl6pPr>
            <a:lvl7pPr lvl="6" algn="ctr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276"/>
            </a:lvl7pPr>
            <a:lvl8pPr lvl="7" algn="ctr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276"/>
            </a:lvl8pPr>
            <a:lvl9pPr lvl="8" algn="ctr">
              <a:lnSpc>
                <a:spcPct val="90000"/>
              </a:lnSpc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276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1201420" y="9040143"/>
            <a:ext cx="3931920" cy="51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788660" y="9040143"/>
            <a:ext cx="5897880" cy="51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2341860" y="9040143"/>
            <a:ext cx="3931920" cy="51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rtl="0"/>
            <a:fld id="{00000000-1234-1234-1234-123412341234}" type="slidenum">
              <a:rPr lang="en-US" smtClean="0"/>
              <a:pPr rt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3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6770" y="242711"/>
            <a:ext cx="16161659" cy="2475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0930" y="2020113"/>
            <a:ext cx="7774305" cy="2899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107384" y="9455853"/>
            <a:ext cx="1232534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jp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jp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g"/><Relationship Id="rId3" Type="http://schemas.openxmlformats.org/officeDocument/2006/relationships/image" Target="../media/image33.jpg"/><Relationship Id="rId7" Type="http://schemas.openxmlformats.org/officeDocument/2006/relationships/image" Target="../media/image37.jpg"/><Relationship Id="rId12" Type="http://schemas.openxmlformats.org/officeDocument/2006/relationships/image" Target="../media/image42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11" Type="http://schemas.openxmlformats.org/officeDocument/2006/relationships/image" Target="../media/image41.png"/><Relationship Id="rId5" Type="http://schemas.openxmlformats.org/officeDocument/2006/relationships/image" Target="../media/image35.jpg"/><Relationship Id="rId10" Type="http://schemas.openxmlformats.org/officeDocument/2006/relationships/image" Target="../media/image40.jpg"/><Relationship Id="rId4" Type="http://schemas.openxmlformats.org/officeDocument/2006/relationships/image" Target="../media/image34.jpg"/><Relationship Id="rId9" Type="http://schemas.openxmlformats.org/officeDocument/2006/relationships/image" Target="../media/image3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/>
        </p:nvSpPr>
        <p:spPr>
          <a:xfrm>
            <a:off x="682746" y="6195071"/>
            <a:ext cx="6053729" cy="2232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027" tIns="130027" rIns="130027" bIns="130027" anchor="t" anchorCtr="0">
            <a:spAutoFit/>
          </a:bodyPr>
          <a:lstStyle/>
          <a:p>
            <a:pPr algn="ctr" rtl="0">
              <a:buClr>
                <a:schemeClr val="dk1"/>
              </a:buClr>
              <a:buSzPts val="1800"/>
            </a:pPr>
            <a:r>
              <a:rPr lang="en-US" sz="256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</a:t>
            </a:r>
            <a:endParaRPr sz="256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256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Dr. Shaik Fayaz Ahmed</a:t>
            </a:r>
          </a:p>
          <a:p>
            <a:pPr lvl="0" algn="ctr"/>
            <a:r>
              <a:rPr lang="en-US" sz="256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Siddhartha Academy of Higher Education</a:t>
            </a:r>
          </a:p>
          <a:p>
            <a:pPr lvl="0" algn="ctr"/>
            <a:r>
              <a:rPr lang="en-US" sz="256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(Deemed to be University)</a:t>
            </a:r>
            <a:endParaRPr lang="en-US" sz="2560" dirty="0"/>
          </a:p>
          <a:p>
            <a:pPr algn="ctr" rtl="0"/>
            <a:endParaRPr sz="256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10228" y="-410123"/>
            <a:ext cx="14211226" cy="3239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027" tIns="130027" rIns="130027" bIns="130027" anchor="t" anchorCtr="0">
            <a:noAutofit/>
          </a:bodyPr>
          <a:lstStyle/>
          <a:p>
            <a:pPr algn="ctr" rtl="0"/>
            <a:endParaRPr sz="3982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 rtl="0"/>
            <a:r>
              <a:rPr lang="en-US" sz="4267" b="1" cap="all" dirty="0">
                <a:ln w="9000" cmpd="sng">
                  <a:solidFill>
                    <a:schemeClr val="tx1"/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alibri"/>
                <a:ea typeface="Calibri"/>
                <a:cs typeface="Calibri"/>
                <a:sym typeface="Calibri"/>
              </a:rPr>
              <a:t>Positioning Navigation and Timing Internship</a:t>
            </a:r>
          </a:p>
          <a:p>
            <a:pPr algn="ctr" rtl="0"/>
            <a:r>
              <a:rPr lang="en-US" sz="2560" b="1" dirty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IIT Tirupati Navavishkar I-Hub Foundation &amp; </a:t>
            </a:r>
          </a:p>
          <a:p>
            <a:pPr lvl="0" algn="ctr">
              <a:buClr>
                <a:srgbClr val="FFFF00"/>
              </a:buClr>
              <a:buSzPts val="2800"/>
            </a:pPr>
            <a:r>
              <a:rPr lang="en-US" sz="2560" b="1" dirty="0">
                <a:solidFill>
                  <a:schemeClr val="dk1"/>
                </a:solidFill>
                <a:latin typeface="Calibri" pitchFamily="34" charset="0"/>
                <a:ea typeface="Calibri"/>
                <a:cs typeface="Calibri" pitchFamily="34" charset="0"/>
                <a:sym typeface="Calibri"/>
              </a:rPr>
              <a:t>Siddhartha Academy of Higher Education (Deemed to be University), India</a:t>
            </a:r>
            <a:endParaRPr sz="2560" b="1" dirty="0">
              <a:solidFill>
                <a:srgbClr val="FFFF00"/>
              </a:solidFill>
              <a:latin typeface="Calibri" pitchFamily="34" charset="0"/>
              <a:ea typeface="Calibri"/>
              <a:cs typeface="Calibri" pitchFamily="34" charset="0"/>
              <a:sym typeface="Calibri"/>
            </a:endParaRPr>
          </a:p>
          <a:p>
            <a:pPr algn="ctr" rtl="0">
              <a:buClr>
                <a:srgbClr val="FFFF00"/>
              </a:buClr>
              <a:buSzPts val="2800"/>
            </a:pPr>
            <a:r>
              <a:rPr lang="en-US" sz="3982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                  </a:t>
            </a:r>
            <a:r>
              <a:rPr lang="en-US" sz="3982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982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711690" y="2389277"/>
            <a:ext cx="13954873" cy="262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027" tIns="130027" rIns="130027" bIns="130027" anchor="t" anchorCtr="0">
            <a:spAutoFit/>
          </a:bodyPr>
          <a:lstStyle/>
          <a:p>
            <a:pPr lvl="0" algn="ctr"/>
            <a:r>
              <a:rPr lang="en-US" sz="5120" dirty="0">
                <a:latin typeface="Bookman Old Style" pitchFamily="18" charset="0"/>
              </a:rPr>
              <a:t>“HANUMA”(HAZARD ANALYSIS NAVIGATION UNIT FOR MINE ASSISTANCE)</a:t>
            </a:r>
            <a:endParaRPr sz="5120" b="1" dirty="0">
              <a:solidFill>
                <a:srgbClr val="002060"/>
              </a:solidFill>
              <a:latin typeface="Bookman Old Style" pitchFamily="18" charset="0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10123770" y="6195071"/>
            <a:ext cx="6018500" cy="2232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027" tIns="130027" rIns="130027" bIns="130027" anchor="t" anchorCtr="0">
            <a:spAutoFit/>
          </a:bodyPr>
          <a:lstStyle/>
          <a:p>
            <a:pPr algn="ctr" rtl="0">
              <a:buClr>
                <a:schemeClr val="dk1"/>
              </a:buClr>
              <a:buSzPts val="1800"/>
            </a:pPr>
            <a:r>
              <a:rPr lang="en-US" sz="256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sz="2560" dirty="0"/>
          </a:p>
          <a:p>
            <a:pPr lvl="0" algn="ctr"/>
            <a:r>
              <a:rPr lang="en-US" sz="256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B. Venkat Gopi Nayak</a:t>
            </a:r>
          </a:p>
          <a:p>
            <a:pPr lvl="0" algn="ctr"/>
            <a:r>
              <a:rPr lang="en-US" sz="256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M. Bindu Madhavi</a:t>
            </a:r>
          </a:p>
          <a:p>
            <a:pPr lvl="0" algn="ctr"/>
            <a:r>
              <a:rPr lang="en-US" sz="256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Siddhartha Academy of Higher Education</a:t>
            </a:r>
          </a:p>
          <a:p>
            <a:pPr lvl="0" algn="ctr"/>
            <a:r>
              <a:rPr lang="en-US" sz="256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(Deemed to be University)</a:t>
            </a:r>
            <a:endParaRPr sz="2560" dirty="0"/>
          </a:p>
        </p:txBody>
      </p:sp>
      <p:sp>
        <p:nvSpPr>
          <p:cNvPr id="11" name="Google Shape;113;p15"/>
          <p:cNvSpPr txBox="1">
            <a:spLocks noGrp="1"/>
          </p:cNvSpPr>
          <p:nvPr>
            <p:ph type="ftr" idx="11"/>
          </p:nvPr>
        </p:nvSpPr>
        <p:spPr>
          <a:xfrm>
            <a:off x="682746" y="9466075"/>
            <a:ext cx="16001451" cy="28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0027" tIns="64996" rIns="130027" bIns="64996" anchor="ctr" anchorCtr="0">
            <a:noAutofit/>
          </a:bodyPr>
          <a:lstStyle/>
          <a:p>
            <a:pPr lvl="0"/>
            <a:r>
              <a:rPr lang="en-US" sz="1280" b="1" dirty="0">
                <a:solidFill>
                  <a:schemeClr val="dk1"/>
                </a:solidFill>
                <a:latin typeface="Bookman Old Style" pitchFamily="18" charset="0"/>
              </a:rPr>
              <a:t>Positioning Navigation and Timing Laboratory Internship,   IIT Tirupati Navavishkar I-Hub Foundation and  Siddhartha Academy of Higher Education (Deemed to be University), India</a:t>
            </a:r>
            <a:endParaRPr lang="en-US" sz="1280" b="1" dirty="0">
              <a:solidFill>
                <a:srgbClr val="FFFF00"/>
              </a:solidFill>
              <a:latin typeface="Bookman Old Style" pitchFamily="18" charset="0"/>
            </a:endParaRPr>
          </a:p>
          <a:p>
            <a:pPr rtl="0"/>
            <a:endParaRPr sz="1280" dirty="0">
              <a:solidFill>
                <a:srgbClr val="262626"/>
              </a:solidFill>
              <a:latin typeface="Bookman Old Style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91250" y="16648"/>
            <a:ext cx="17316217" cy="1404442"/>
            <a:chOff x="16535" y="11706"/>
            <a:chExt cx="12175465" cy="987498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67982" y="11706"/>
              <a:ext cx="2524018" cy="987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35" y="11706"/>
              <a:ext cx="763990" cy="987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" name="Rectangle 1"/>
          <p:cNvSpPr/>
          <p:nvPr/>
        </p:nvSpPr>
        <p:spPr>
          <a:xfrm>
            <a:off x="6616635" y="5461553"/>
            <a:ext cx="3913251" cy="4862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256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Calibri"/>
                <a:ea typeface="Calibri"/>
                <a:cs typeface="Calibri"/>
                <a:sym typeface="Calibri"/>
              </a:rPr>
              <a:t>Date : September 18</a:t>
            </a:r>
            <a:r>
              <a:rPr lang="en-US" sz="2560" b="1" baseline="3000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256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Calibri"/>
                <a:ea typeface="Calibri"/>
                <a:cs typeface="Calibri"/>
                <a:sym typeface="Calibri"/>
              </a:rPr>
              <a:t>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939800"/>
            <a:ext cx="7442200" cy="7874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20200" y="7505700"/>
            <a:ext cx="1587500" cy="1206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94800" y="5499100"/>
            <a:ext cx="1638300" cy="990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58300" y="3314700"/>
            <a:ext cx="1524000" cy="13716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4055" rIns="0" bIns="0" rtlCol="0">
            <a:spAutoFit/>
          </a:bodyPr>
          <a:lstStyle/>
          <a:p>
            <a:pPr marL="8555990" marR="5080" indent="19050">
              <a:lnSpc>
                <a:spcPts val="4650"/>
              </a:lnSpc>
              <a:spcBef>
                <a:spcPts val="890"/>
              </a:spcBef>
            </a:pPr>
            <a:r>
              <a:rPr sz="4500" spc="100" dirty="0">
                <a:solidFill>
                  <a:srgbClr val="0C0C0C"/>
                </a:solidFill>
              </a:rPr>
              <a:t>The</a:t>
            </a:r>
            <a:r>
              <a:rPr sz="4500" spc="-250" dirty="0">
                <a:solidFill>
                  <a:srgbClr val="0C0C0C"/>
                </a:solidFill>
              </a:rPr>
              <a:t> </a:t>
            </a:r>
            <a:r>
              <a:rPr sz="4500" spc="180" dirty="0">
                <a:solidFill>
                  <a:srgbClr val="0A0A0A"/>
                </a:solidFill>
              </a:rPr>
              <a:t>Critical</a:t>
            </a:r>
            <a:r>
              <a:rPr sz="4500" spc="-160" dirty="0">
                <a:solidFill>
                  <a:srgbClr val="0A0A0A"/>
                </a:solidFill>
              </a:rPr>
              <a:t> </a:t>
            </a:r>
            <a:r>
              <a:rPr sz="4500" spc="75" dirty="0">
                <a:solidFill>
                  <a:srgbClr val="0C0C0C"/>
                </a:solidFill>
              </a:rPr>
              <a:t>Need</a:t>
            </a:r>
            <a:r>
              <a:rPr sz="4500" spc="-145" dirty="0">
                <a:solidFill>
                  <a:srgbClr val="0C0C0C"/>
                </a:solidFill>
              </a:rPr>
              <a:t> </a:t>
            </a:r>
            <a:r>
              <a:rPr sz="4500" spc="25" dirty="0">
                <a:solidFill>
                  <a:srgbClr val="0E0E0E"/>
                </a:solidFill>
              </a:rPr>
              <a:t>for </a:t>
            </a:r>
            <a:r>
              <a:rPr sz="4650" spc="110" dirty="0">
                <a:solidFill>
                  <a:srgbClr val="0C0C0C"/>
                </a:solidFill>
              </a:rPr>
              <a:t>Automation</a:t>
            </a:r>
            <a:r>
              <a:rPr sz="4650" spc="-100" dirty="0">
                <a:solidFill>
                  <a:srgbClr val="0C0C0C"/>
                </a:solidFill>
              </a:rPr>
              <a:t> </a:t>
            </a:r>
            <a:r>
              <a:rPr sz="4650" spc="70" dirty="0">
                <a:solidFill>
                  <a:srgbClr val="111111"/>
                </a:solidFill>
              </a:rPr>
              <a:t>in</a:t>
            </a:r>
            <a:r>
              <a:rPr sz="4650" spc="-145" dirty="0">
                <a:solidFill>
                  <a:srgbClr val="111111"/>
                </a:solidFill>
              </a:rPr>
              <a:t> </a:t>
            </a:r>
            <a:r>
              <a:rPr sz="4650" spc="-10" dirty="0">
                <a:solidFill>
                  <a:srgbClr val="0C0C0C"/>
                </a:solidFill>
              </a:rPr>
              <a:t>Hazardous </a:t>
            </a:r>
            <a:r>
              <a:rPr sz="4500" spc="125" dirty="0"/>
              <a:t>Environments</a:t>
            </a:r>
            <a:endParaRPr sz="4500"/>
          </a:p>
        </p:txBody>
      </p:sp>
      <p:sp>
        <p:nvSpPr>
          <p:cNvPr id="7" name="object 7"/>
          <p:cNvSpPr txBox="1"/>
          <p:nvPr/>
        </p:nvSpPr>
        <p:spPr>
          <a:xfrm>
            <a:off x="11215488" y="3440288"/>
            <a:ext cx="5283835" cy="5226050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12700" marR="904240" indent="-635">
              <a:lnSpc>
                <a:spcPct val="96500"/>
              </a:lnSpc>
              <a:spcBef>
                <a:spcPts val="209"/>
              </a:spcBef>
            </a:pPr>
            <a:r>
              <a:rPr sz="2350" dirty="0">
                <a:latin typeface="Arial MT"/>
                <a:cs typeface="Arial MT"/>
              </a:rPr>
              <a:t>Human</a:t>
            </a:r>
            <a:r>
              <a:rPr sz="2350" spc="-7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Risk:</a:t>
            </a:r>
            <a:r>
              <a:rPr sz="2350" spc="-3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Traditional</a:t>
            </a:r>
            <a:r>
              <a:rPr sz="2350" spc="11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manual </a:t>
            </a:r>
            <a:r>
              <a:rPr sz="2400" dirty="0">
                <a:latin typeface="Arial MT"/>
                <a:cs typeface="Arial MT"/>
              </a:rPr>
              <a:t>inspection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underground</a:t>
            </a:r>
            <a:r>
              <a:rPr sz="2400" spc="130" dirty="0">
                <a:latin typeface="Arial MT"/>
                <a:cs typeface="Arial MT"/>
              </a:rPr>
              <a:t> </a:t>
            </a:r>
            <a:r>
              <a:rPr sz="2400" spc="-45" dirty="0">
                <a:latin typeface="Arial MT"/>
                <a:cs typeface="Arial MT"/>
              </a:rPr>
              <a:t>mines </a:t>
            </a:r>
            <a:r>
              <a:rPr sz="2350" dirty="0">
                <a:latin typeface="Arial MT"/>
                <a:cs typeface="Arial MT"/>
              </a:rPr>
              <a:t>exposes</a:t>
            </a:r>
            <a:r>
              <a:rPr sz="2350" spc="18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workers</a:t>
            </a:r>
            <a:r>
              <a:rPr sz="2350" spc="75" dirty="0">
                <a:latin typeface="Arial MT"/>
                <a:cs typeface="Arial MT"/>
              </a:rPr>
              <a:t> </a:t>
            </a:r>
            <a:r>
              <a:rPr sz="2350" spc="65" dirty="0">
                <a:latin typeface="Arial MT"/>
                <a:cs typeface="Arial MT"/>
              </a:rPr>
              <a:t>to</a:t>
            </a:r>
            <a:r>
              <a:rPr sz="2350" spc="-7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fatal</a:t>
            </a:r>
            <a:r>
              <a:rPr sz="2350" spc="-10" dirty="0">
                <a:latin typeface="Arial MT"/>
                <a:cs typeface="Arial MT"/>
              </a:rPr>
              <a:t> risks.</a:t>
            </a:r>
            <a:endParaRPr sz="23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350">
              <a:latin typeface="Arial MT"/>
              <a:cs typeface="Arial MT"/>
            </a:endParaRPr>
          </a:p>
          <a:p>
            <a:pPr marL="13970" marR="524510" indent="-1270">
              <a:lnSpc>
                <a:spcPct val="97000"/>
              </a:lnSpc>
              <a:spcBef>
                <a:spcPts val="5"/>
              </a:spcBef>
            </a:pPr>
            <a:r>
              <a:rPr sz="2350" dirty="0">
                <a:latin typeface="Arial MT"/>
                <a:cs typeface="Arial MT"/>
              </a:rPr>
              <a:t>Environmental</a:t>
            </a:r>
            <a:r>
              <a:rPr sz="2350" spc="37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Dangers:</a:t>
            </a:r>
            <a:r>
              <a:rPr sz="2350" spc="39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Threats </a:t>
            </a:r>
            <a:r>
              <a:rPr sz="2400" spc="-10" dirty="0">
                <a:latin typeface="Arial MT"/>
                <a:cs typeface="Arial MT"/>
              </a:rPr>
              <a:t>include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toxic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gas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leaks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(Nitrogen </a:t>
            </a:r>
            <a:r>
              <a:rPr sz="2300" spc="-55" dirty="0">
                <a:latin typeface="Arial MT"/>
                <a:cs typeface="Arial MT"/>
              </a:rPr>
              <a:t>DiOxide,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Carbon</a:t>
            </a:r>
            <a:r>
              <a:rPr sz="2300" spc="1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Dioxide),</a:t>
            </a:r>
            <a:r>
              <a:rPr sz="2300" spc="13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structural </a:t>
            </a:r>
            <a:r>
              <a:rPr sz="2400" dirty="0">
                <a:latin typeface="Arial MT"/>
                <a:cs typeface="Arial MT"/>
              </a:rPr>
              <a:t>instability,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fire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hazards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from </a:t>
            </a:r>
            <a:r>
              <a:rPr sz="2400" dirty="0">
                <a:latin typeface="Arial MT"/>
                <a:cs typeface="Arial MT"/>
              </a:rPr>
              <a:t>temperature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spikes.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2400">
              <a:latin typeface="Arial MT"/>
              <a:cs typeface="Arial MT"/>
            </a:endParaRPr>
          </a:p>
          <a:p>
            <a:pPr marL="19685" marR="5080" indent="-7620">
              <a:lnSpc>
                <a:spcPct val="955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spc="-45" dirty="0">
                <a:latin typeface="Arial MT"/>
                <a:cs typeface="Arial MT"/>
              </a:rPr>
              <a:t>Gap: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Safety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teams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lack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real-time </a:t>
            </a:r>
            <a:r>
              <a:rPr sz="2400" spc="-25" dirty="0">
                <a:latin typeface="Arial MT"/>
                <a:cs typeface="Arial MT"/>
              </a:rPr>
              <a:t>visual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sensory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feedback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deep </a:t>
            </a:r>
            <a:r>
              <a:rPr sz="2400" dirty="0">
                <a:latin typeface="Arial MT"/>
                <a:cs typeface="Arial MT"/>
              </a:rPr>
              <a:t>within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tunnels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before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human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entry.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7470831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448" y="462747"/>
            <a:ext cx="6261662" cy="27830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4460" algn="l" rtl="0">
              <a:lnSpc>
                <a:spcPct val="90000"/>
              </a:lnSpc>
              <a:spcBef>
                <a:spcPct val="0"/>
              </a:spcBef>
            </a:pPr>
            <a:r>
              <a:rPr lang="en-US" sz="6500" kern="1200">
                <a:latin typeface="+mj-lt"/>
                <a:cs typeface="+mj-cs"/>
              </a:rPr>
              <a:t>Our</a:t>
            </a:r>
            <a:r>
              <a:rPr lang="en-US" sz="6500" kern="1200" spc="-114">
                <a:latin typeface="+mj-lt"/>
                <a:cs typeface="+mj-cs"/>
              </a:rPr>
              <a:t> </a:t>
            </a:r>
            <a:r>
              <a:rPr lang="en-US" sz="6500" kern="1200" spc="125">
                <a:latin typeface="+mj-lt"/>
                <a:cs typeface="+mj-cs"/>
              </a:rPr>
              <a:t>Solution:</a:t>
            </a:r>
            <a:r>
              <a:rPr lang="en-US" sz="6500" kern="1200" spc="175">
                <a:latin typeface="+mj-lt"/>
                <a:cs typeface="+mj-cs"/>
              </a:rPr>
              <a:t> </a:t>
            </a:r>
            <a:r>
              <a:rPr lang="en-US" sz="6500" kern="1200">
                <a:latin typeface="+mj-lt"/>
                <a:cs typeface="+mj-cs"/>
              </a:rPr>
              <a:t>A</a:t>
            </a:r>
            <a:r>
              <a:rPr lang="en-US" sz="6500" kern="1200" spc="-215">
                <a:latin typeface="+mj-lt"/>
                <a:cs typeface="+mj-cs"/>
              </a:rPr>
              <a:t> </a:t>
            </a:r>
            <a:r>
              <a:rPr lang="en-US" sz="6500" kern="1200" spc="95">
                <a:latin typeface="+mj-lt"/>
                <a:cs typeface="+mj-cs"/>
              </a:rPr>
              <a:t>Robotic</a:t>
            </a:r>
            <a:r>
              <a:rPr lang="en-US" sz="6500" kern="1200" spc="114">
                <a:latin typeface="+mj-lt"/>
                <a:cs typeface="+mj-cs"/>
              </a:rPr>
              <a:t> </a:t>
            </a:r>
            <a:r>
              <a:rPr lang="en-US" sz="6500" kern="1200" spc="150">
                <a:latin typeface="+mj-lt"/>
                <a:cs typeface="+mj-cs"/>
              </a:rPr>
              <a:t>First</a:t>
            </a:r>
            <a:r>
              <a:rPr lang="en-US" sz="6500" kern="1200" spc="-200">
                <a:latin typeface="+mj-lt"/>
                <a:cs typeface="+mj-cs"/>
              </a:rPr>
              <a:t> </a:t>
            </a:r>
            <a:r>
              <a:rPr lang="en-US" sz="6500" kern="1200" spc="45">
                <a:latin typeface="+mj-lt"/>
                <a:cs typeface="+mj-cs"/>
              </a:rPr>
              <a:t>Responder</a:t>
            </a:r>
            <a:endParaRPr lang="en-US" sz="6500" kern="1200">
              <a:latin typeface="+mj-lt"/>
              <a:cs typeface="+mj-cs"/>
            </a:endParaRP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7448" y="3679280"/>
            <a:ext cx="4980432" cy="26009"/>
          </a:xfrm>
          <a:custGeom>
            <a:avLst/>
            <a:gdLst>
              <a:gd name="csX0" fmla="*/ 0 w 4980432"/>
              <a:gd name="csY0" fmla="*/ 0 h 26009"/>
              <a:gd name="csX1" fmla="*/ 572750 w 4980432"/>
              <a:gd name="csY1" fmla="*/ 0 h 26009"/>
              <a:gd name="csX2" fmla="*/ 1145499 w 4980432"/>
              <a:gd name="csY2" fmla="*/ 0 h 26009"/>
              <a:gd name="csX3" fmla="*/ 1867662 w 4980432"/>
              <a:gd name="csY3" fmla="*/ 0 h 26009"/>
              <a:gd name="csX4" fmla="*/ 2390607 w 4980432"/>
              <a:gd name="csY4" fmla="*/ 0 h 26009"/>
              <a:gd name="csX5" fmla="*/ 2913553 w 4980432"/>
              <a:gd name="csY5" fmla="*/ 0 h 26009"/>
              <a:gd name="csX6" fmla="*/ 3536107 w 4980432"/>
              <a:gd name="csY6" fmla="*/ 0 h 26009"/>
              <a:gd name="csX7" fmla="*/ 4059052 w 4980432"/>
              <a:gd name="csY7" fmla="*/ 0 h 26009"/>
              <a:gd name="csX8" fmla="*/ 4980432 w 4980432"/>
              <a:gd name="csY8" fmla="*/ 0 h 26009"/>
              <a:gd name="csX9" fmla="*/ 4980432 w 4980432"/>
              <a:gd name="csY9" fmla="*/ 26009 h 26009"/>
              <a:gd name="csX10" fmla="*/ 4457487 w 4980432"/>
              <a:gd name="csY10" fmla="*/ 26009 h 26009"/>
              <a:gd name="csX11" fmla="*/ 3934541 w 4980432"/>
              <a:gd name="csY11" fmla="*/ 26009 h 26009"/>
              <a:gd name="csX12" fmla="*/ 3311987 w 4980432"/>
              <a:gd name="csY12" fmla="*/ 26009 h 26009"/>
              <a:gd name="csX13" fmla="*/ 2789042 w 4980432"/>
              <a:gd name="csY13" fmla="*/ 26009 h 26009"/>
              <a:gd name="csX14" fmla="*/ 2315901 w 4980432"/>
              <a:gd name="csY14" fmla="*/ 26009 h 26009"/>
              <a:gd name="csX15" fmla="*/ 1693347 w 4980432"/>
              <a:gd name="csY15" fmla="*/ 26009 h 26009"/>
              <a:gd name="csX16" fmla="*/ 1070793 w 4980432"/>
              <a:gd name="csY16" fmla="*/ 26009 h 26009"/>
              <a:gd name="csX17" fmla="*/ 0 w 4980432"/>
              <a:gd name="csY17" fmla="*/ 26009 h 26009"/>
              <a:gd name="csX18" fmla="*/ 0 w 4980432"/>
              <a:gd name="csY18" fmla="*/ 0 h 260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80432" h="26009" fill="none" extrusionOk="0">
                <a:moveTo>
                  <a:pt x="0" y="0"/>
                </a:moveTo>
                <a:cubicBezTo>
                  <a:pt x="212634" y="-15513"/>
                  <a:pt x="300512" y="14832"/>
                  <a:pt x="572750" y="0"/>
                </a:cubicBezTo>
                <a:cubicBezTo>
                  <a:pt x="844988" y="-14832"/>
                  <a:pt x="869622" y="-5237"/>
                  <a:pt x="1145499" y="0"/>
                </a:cubicBezTo>
                <a:cubicBezTo>
                  <a:pt x="1421376" y="5237"/>
                  <a:pt x="1539941" y="9472"/>
                  <a:pt x="1867662" y="0"/>
                </a:cubicBezTo>
                <a:cubicBezTo>
                  <a:pt x="2195383" y="-9472"/>
                  <a:pt x="2253066" y="4354"/>
                  <a:pt x="2390607" y="0"/>
                </a:cubicBezTo>
                <a:cubicBezTo>
                  <a:pt x="2528148" y="-4354"/>
                  <a:pt x="2654684" y="13774"/>
                  <a:pt x="2913553" y="0"/>
                </a:cubicBezTo>
                <a:cubicBezTo>
                  <a:pt x="3172422" y="-13774"/>
                  <a:pt x="3333291" y="6579"/>
                  <a:pt x="3536107" y="0"/>
                </a:cubicBezTo>
                <a:cubicBezTo>
                  <a:pt x="3738923" y="-6579"/>
                  <a:pt x="3830941" y="-11434"/>
                  <a:pt x="4059052" y="0"/>
                </a:cubicBezTo>
                <a:cubicBezTo>
                  <a:pt x="4287163" y="11434"/>
                  <a:pt x="4706339" y="-8013"/>
                  <a:pt x="4980432" y="0"/>
                </a:cubicBezTo>
                <a:cubicBezTo>
                  <a:pt x="4979550" y="10250"/>
                  <a:pt x="4980020" y="15615"/>
                  <a:pt x="4980432" y="26009"/>
                </a:cubicBezTo>
                <a:cubicBezTo>
                  <a:pt x="4720671" y="37395"/>
                  <a:pt x="4709512" y="17943"/>
                  <a:pt x="4457487" y="26009"/>
                </a:cubicBezTo>
                <a:cubicBezTo>
                  <a:pt x="4205463" y="34075"/>
                  <a:pt x="4063073" y="7418"/>
                  <a:pt x="3934541" y="26009"/>
                </a:cubicBezTo>
                <a:cubicBezTo>
                  <a:pt x="3806009" y="44600"/>
                  <a:pt x="3601101" y="11981"/>
                  <a:pt x="3311987" y="26009"/>
                </a:cubicBezTo>
                <a:cubicBezTo>
                  <a:pt x="3022873" y="40037"/>
                  <a:pt x="2909389" y="948"/>
                  <a:pt x="2789042" y="26009"/>
                </a:cubicBezTo>
                <a:cubicBezTo>
                  <a:pt x="2668695" y="51070"/>
                  <a:pt x="2522863" y="4927"/>
                  <a:pt x="2315901" y="26009"/>
                </a:cubicBezTo>
                <a:cubicBezTo>
                  <a:pt x="2108939" y="47091"/>
                  <a:pt x="1854289" y="33300"/>
                  <a:pt x="1693347" y="26009"/>
                </a:cubicBezTo>
                <a:cubicBezTo>
                  <a:pt x="1532405" y="18718"/>
                  <a:pt x="1362011" y="53688"/>
                  <a:pt x="1070793" y="26009"/>
                </a:cubicBezTo>
                <a:cubicBezTo>
                  <a:pt x="779575" y="-1670"/>
                  <a:pt x="281872" y="-14952"/>
                  <a:pt x="0" y="26009"/>
                </a:cubicBezTo>
                <a:cubicBezTo>
                  <a:pt x="-498" y="20257"/>
                  <a:pt x="356" y="5435"/>
                  <a:pt x="0" y="0"/>
                </a:cubicBezTo>
                <a:close/>
              </a:path>
              <a:path w="4980432" h="26009" stroke="0" extrusionOk="0">
                <a:moveTo>
                  <a:pt x="0" y="0"/>
                </a:moveTo>
                <a:cubicBezTo>
                  <a:pt x="228780" y="21058"/>
                  <a:pt x="410259" y="13972"/>
                  <a:pt x="522945" y="0"/>
                </a:cubicBezTo>
                <a:cubicBezTo>
                  <a:pt x="635631" y="-13972"/>
                  <a:pt x="956946" y="-17629"/>
                  <a:pt x="1245108" y="0"/>
                </a:cubicBezTo>
                <a:cubicBezTo>
                  <a:pt x="1533270" y="17629"/>
                  <a:pt x="1490562" y="7088"/>
                  <a:pt x="1718249" y="0"/>
                </a:cubicBezTo>
                <a:cubicBezTo>
                  <a:pt x="1945936" y="-7088"/>
                  <a:pt x="2055343" y="-15205"/>
                  <a:pt x="2191390" y="0"/>
                </a:cubicBezTo>
                <a:cubicBezTo>
                  <a:pt x="2327437" y="15205"/>
                  <a:pt x="2522322" y="-7197"/>
                  <a:pt x="2813944" y="0"/>
                </a:cubicBezTo>
                <a:cubicBezTo>
                  <a:pt x="3105566" y="7197"/>
                  <a:pt x="3104078" y="27736"/>
                  <a:pt x="3386694" y="0"/>
                </a:cubicBezTo>
                <a:cubicBezTo>
                  <a:pt x="3669310" y="-27736"/>
                  <a:pt x="3747492" y="19818"/>
                  <a:pt x="4059052" y="0"/>
                </a:cubicBezTo>
                <a:cubicBezTo>
                  <a:pt x="4370612" y="-19818"/>
                  <a:pt x="4581930" y="-9360"/>
                  <a:pt x="4980432" y="0"/>
                </a:cubicBezTo>
                <a:cubicBezTo>
                  <a:pt x="4980610" y="5528"/>
                  <a:pt x="4981456" y="14201"/>
                  <a:pt x="4980432" y="26009"/>
                </a:cubicBezTo>
                <a:cubicBezTo>
                  <a:pt x="4646682" y="58729"/>
                  <a:pt x="4557771" y="17137"/>
                  <a:pt x="4258269" y="26009"/>
                </a:cubicBezTo>
                <a:cubicBezTo>
                  <a:pt x="3958767" y="34881"/>
                  <a:pt x="3855533" y="13252"/>
                  <a:pt x="3685520" y="26009"/>
                </a:cubicBezTo>
                <a:cubicBezTo>
                  <a:pt x="3515507" y="38766"/>
                  <a:pt x="3377485" y="14620"/>
                  <a:pt x="3112770" y="26009"/>
                </a:cubicBezTo>
                <a:cubicBezTo>
                  <a:pt x="2848055" y="37399"/>
                  <a:pt x="2744749" y="14913"/>
                  <a:pt x="2589825" y="26009"/>
                </a:cubicBezTo>
                <a:cubicBezTo>
                  <a:pt x="2434902" y="37105"/>
                  <a:pt x="2296899" y="42851"/>
                  <a:pt x="2017075" y="26009"/>
                </a:cubicBezTo>
                <a:cubicBezTo>
                  <a:pt x="1737251" y="9168"/>
                  <a:pt x="1715952" y="35847"/>
                  <a:pt x="1543934" y="26009"/>
                </a:cubicBezTo>
                <a:cubicBezTo>
                  <a:pt x="1371916" y="16171"/>
                  <a:pt x="1188921" y="49320"/>
                  <a:pt x="971184" y="26009"/>
                </a:cubicBezTo>
                <a:cubicBezTo>
                  <a:pt x="753447" y="2699"/>
                  <a:pt x="254838" y="53998"/>
                  <a:pt x="0" y="26009"/>
                </a:cubicBezTo>
                <a:cubicBezTo>
                  <a:pt x="-651" y="20072"/>
                  <a:pt x="-387" y="898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355600" y="4085900"/>
            <a:ext cx="6644325" cy="4722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700" marR="29845" indent="-228600" algn="just" rtl="0">
              <a:lnSpc>
                <a:spcPct val="90000"/>
              </a:lnSpc>
              <a:spcBef>
                <a:spcPts val="290"/>
              </a:spcBef>
              <a:buFont typeface="Arial" panose="020B0604020202020204" pitchFamily="34" charset="0"/>
              <a:buChar char="•"/>
            </a:pPr>
            <a:r>
              <a:rPr lang="en-US" sz="3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</a:t>
            </a:r>
            <a:r>
              <a:rPr lang="en-US" sz="3100" kern="1200" spc="-2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autonomous</a:t>
            </a:r>
            <a:r>
              <a:rPr lang="en-US" sz="3100" kern="1200" spc="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rover</a:t>
            </a:r>
            <a:r>
              <a:rPr lang="en-US" sz="3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designed</a:t>
            </a:r>
            <a:r>
              <a:rPr lang="en-US" sz="3100" kern="1200" spc="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3100" kern="1200" spc="-2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enter</a:t>
            </a:r>
            <a:r>
              <a:rPr lang="en-US" sz="3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hazardous</a:t>
            </a:r>
            <a:r>
              <a:rPr lang="en-US" sz="3100" kern="1200" spc="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zones,</a:t>
            </a:r>
            <a:r>
              <a:rPr lang="en-US" sz="31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real-time</a:t>
            </a:r>
            <a:r>
              <a:rPr lang="en-US" sz="3100" kern="1200" spc="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environmental</a:t>
            </a:r>
            <a:r>
              <a:rPr lang="en-US" sz="3100" kern="1200" spc="409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data,</a:t>
            </a:r>
            <a:r>
              <a:rPr lang="en-US" sz="3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3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</a:t>
            </a:r>
            <a:r>
              <a:rPr lang="en-US" sz="3100" kern="1200" spc="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spc="-3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3100" kern="1200" spc="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live</a:t>
            </a:r>
            <a:r>
              <a:rPr lang="en-US" sz="31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</a:t>
            </a:r>
            <a:r>
              <a:rPr lang="en-US" sz="31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feed</a:t>
            </a:r>
            <a:r>
              <a:rPr lang="en-US" sz="3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spc="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3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spc="-3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safe</a:t>
            </a:r>
            <a:r>
              <a:rPr lang="en-US" sz="3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</a:t>
            </a:r>
            <a:r>
              <a:rPr lang="en-US" sz="31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center,</a:t>
            </a:r>
            <a:r>
              <a:rPr lang="en-US" sz="3100" kern="1200" spc="-1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ensuring</a:t>
            </a:r>
            <a:r>
              <a:rPr lang="en-US" sz="3100" kern="1200" spc="-1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areas</a:t>
            </a:r>
            <a:r>
              <a:rPr lang="en-US" sz="31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3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</a:t>
            </a:r>
            <a:r>
              <a:rPr lang="en-US" sz="3100" kern="1200" spc="-1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before</a:t>
            </a:r>
            <a:r>
              <a:rPr lang="en-US" sz="3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human</a:t>
            </a:r>
            <a:r>
              <a:rPr lang="en-US" sz="31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entry.</a:t>
            </a:r>
            <a:endParaRPr lang="en-US" sz="3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 descr="A robot on wheels next to a computer&#10;&#10;AI-generated content may be incorrect.">
            <a:extLst>
              <a:ext uri="{FF2B5EF4-FFF2-40B4-BE49-F238E27FC236}">
                <a16:creationId xmlns:a16="http://schemas.microsoft.com/office/drawing/2014/main" id="{B163BE15-F30B-4A34-08C3-42E58DFBB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52" r="-1" b="17053"/>
          <a:stretch>
            <a:fillRect/>
          </a:stretch>
        </p:blipFill>
        <p:spPr>
          <a:xfrm>
            <a:off x="7613439" y="10"/>
            <a:ext cx="9859578" cy="97535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8382000"/>
            <a:ext cx="520700" cy="520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6600" y="8585200"/>
            <a:ext cx="228600" cy="101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6600" y="7645400"/>
            <a:ext cx="228600" cy="101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600" y="6477000"/>
            <a:ext cx="520700" cy="5461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13300" y="5943600"/>
            <a:ext cx="2730500" cy="2768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26000" y="3378200"/>
            <a:ext cx="965200" cy="1524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45200" y="5105400"/>
            <a:ext cx="660400" cy="6350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23400" y="5143500"/>
            <a:ext cx="596900" cy="6096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484100" y="5257800"/>
            <a:ext cx="952500" cy="3556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982700" y="4914900"/>
            <a:ext cx="419100" cy="48260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718113" y="5727700"/>
            <a:ext cx="0" cy="859790"/>
          </a:xfrm>
          <a:custGeom>
            <a:avLst/>
            <a:gdLst/>
            <a:ahLst/>
            <a:cxnLst/>
            <a:rect l="l" t="t" r="r" b="b"/>
            <a:pathLst>
              <a:path h="859790">
                <a:moveTo>
                  <a:pt x="0" y="859366"/>
                </a:moveTo>
                <a:lnTo>
                  <a:pt x="0" y="0"/>
                </a:lnTo>
              </a:path>
            </a:pathLst>
          </a:custGeom>
          <a:ln w="21166">
            <a:solidFill>
              <a:srgbClr val="5767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3707529" y="5727700"/>
            <a:ext cx="2942590" cy="859790"/>
            <a:chOff x="13707529" y="5727700"/>
            <a:chExt cx="2942590" cy="859790"/>
          </a:xfrm>
        </p:grpSpPr>
        <p:sp>
          <p:nvSpPr>
            <p:cNvPr id="14" name="object 14"/>
            <p:cNvSpPr/>
            <p:nvPr/>
          </p:nvSpPr>
          <p:spPr>
            <a:xfrm>
              <a:off x="16639112" y="5727700"/>
              <a:ext cx="0" cy="859790"/>
            </a:xfrm>
            <a:custGeom>
              <a:avLst/>
              <a:gdLst/>
              <a:ahLst/>
              <a:cxnLst/>
              <a:rect l="l" t="t" r="r" b="b"/>
              <a:pathLst>
                <a:path h="859790">
                  <a:moveTo>
                    <a:pt x="0" y="8593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576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707529" y="5738283"/>
              <a:ext cx="2942590" cy="0"/>
            </a:xfrm>
            <a:custGeom>
              <a:avLst/>
              <a:gdLst/>
              <a:ahLst/>
              <a:cxnLst/>
              <a:rect l="l" t="t" r="r" b="b"/>
              <a:pathLst>
                <a:path w="2942590">
                  <a:moveTo>
                    <a:pt x="0" y="0"/>
                  </a:moveTo>
                  <a:lnTo>
                    <a:pt x="2942166" y="0"/>
                  </a:lnTo>
                </a:path>
              </a:pathLst>
            </a:custGeom>
            <a:ln w="21166">
              <a:solidFill>
                <a:srgbClr val="576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707529" y="6576483"/>
              <a:ext cx="2942590" cy="0"/>
            </a:xfrm>
            <a:custGeom>
              <a:avLst/>
              <a:gdLst/>
              <a:ahLst/>
              <a:cxnLst/>
              <a:rect l="l" t="t" r="r" b="b"/>
              <a:pathLst>
                <a:path w="2942590">
                  <a:moveTo>
                    <a:pt x="0" y="0"/>
                  </a:moveTo>
                  <a:lnTo>
                    <a:pt x="2942166" y="0"/>
                  </a:lnTo>
                </a:path>
              </a:pathLst>
            </a:custGeom>
            <a:ln w="21166">
              <a:solidFill>
                <a:srgbClr val="576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0100" y="6388100"/>
            <a:ext cx="38100" cy="7493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84716" y="1598083"/>
            <a:ext cx="4305300" cy="3733800"/>
          </a:xfrm>
          <a:prstGeom prst="rect">
            <a:avLst/>
          </a:prstGeom>
          <a:ln w="21166">
            <a:solidFill>
              <a:srgbClr val="5B6B80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340360">
              <a:lnSpc>
                <a:spcPct val="100000"/>
              </a:lnSpc>
              <a:spcBef>
                <a:spcPts val="815"/>
              </a:spcBef>
            </a:pPr>
            <a:r>
              <a:rPr sz="2550" spc="-110" dirty="0">
                <a:latin typeface="Arial MT"/>
                <a:cs typeface="Arial MT"/>
              </a:rPr>
              <a:t>Environmental</a:t>
            </a:r>
            <a:r>
              <a:rPr sz="2550" spc="-15" dirty="0">
                <a:latin typeface="Arial MT"/>
                <a:cs typeface="Arial MT"/>
              </a:rPr>
              <a:t> </a:t>
            </a:r>
            <a:r>
              <a:rPr sz="2550" spc="-155" dirty="0">
                <a:latin typeface="Arial MT"/>
                <a:cs typeface="Arial MT"/>
              </a:rPr>
              <a:t>Sensor</a:t>
            </a:r>
            <a:r>
              <a:rPr sz="2550" spc="-6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Suite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6816" y="2258483"/>
            <a:ext cx="3733800" cy="609600"/>
          </a:xfrm>
          <a:prstGeom prst="rect">
            <a:avLst/>
          </a:prstGeom>
          <a:ln w="21166">
            <a:solidFill>
              <a:srgbClr val="546777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865505">
              <a:lnSpc>
                <a:spcPct val="100000"/>
              </a:lnSpc>
              <a:spcBef>
                <a:spcPts val="815"/>
              </a:spcBef>
            </a:pPr>
            <a:r>
              <a:rPr sz="2150" dirty="0">
                <a:latin typeface="Arial MT"/>
                <a:cs typeface="Arial MT"/>
              </a:rPr>
              <a:t>NO</a:t>
            </a:r>
            <a:r>
              <a:rPr sz="2175" baseline="-22988" dirty="0">
                <a:latin typeface="Arial MT"/>
                <a:cs typeface="Arial MT"/>
              </a:rPr>
              <a:t>2</a:t>
            </a:r>
            <a:r>
              <a:rPr sz="2175" spc="157" baseline="-22988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Gas</a:t>
            </a:r>
            <a:r>
              <a:rPr sz="2150" spc="1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SensOr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6816" y="3007783"/>
            <a:ext cx="3733800" cy="609600"/>
          </a:xfrm>
          <a:prstGeom prst="rect">
            <a:avLst/>
          </a:prstGeom>
          <a:ln w="21166">
            <a:solidFill>
              <a:srgbClr val="546777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870585">
              <a:lnSpc>
                <a:spcPct val="100000"/>
              </a:lnSpc>
              <a:spcBef>
                <a:spcPts val="415"/>
              </a:spcBef>
            </a:pPr>
            <a:r>
              <a:rPr sz="2550" spc="-220" dirty="0">
                <a:latin typeface="Arial MT"/>
                <a:cs typeface="Arial MT"/>
              </a:rPr>
              <a:t>CO</a:t>
            </a:r>
            <a:r>
              <a:rPr sz="2475" spc="-330" baseline="-20202" dirty="0">
                <a:latin typeface="Arial MT"/>
                <a:cs typeface="Arial MT"/>
              </a:rPr>
              <a:t>2</a:t>
            </a:r>
            <a:r>
              <a:rPr sz="2475" baseline="-20202" dirty="0">
                <a:latin typeface="Arial MT"/>
                <a:cs typeface="Arial MT"/>
              </a:rPr>
              <a:t> </a:t>
            </a:r>
            <a:r>
              <a:rPr sz="2550" spc="-300" dirty="0">
                <a:latin typeface="Arial MT"/>
                <a:cs typeface="Arial MT"/>
              </a:rPr>
              <a:t>Gas</a:t>
            </a:r>
            <a:r>
              <a:rPr sz="2550" spc="20" dirty="0">
                <a:latin typeface="Arial MT"/>
                <a:cs typeface="Arial MT"/>
              </a:rPr>
              <a:t> </a:t>
            </a:r>
            <a:r>
              <a:rPr sz="2550" spc="-45" dirty="0">
                <a:latin typeface="Arial MT"/>
                <a:cs typeface="Arial MT"/>
              </a:rPr>
              <a:t>Sensor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6816" y="3744383"/>
            <a:ext cx="3733800" cy="622300"/>
          </a:xfrm>
          <a:prstGeom prst="rect">
            <a:avLst/>
          </a:prstGeom>
          <a:ln w="21166">
            <a:solidFill>
              <a:srgbClr val="60708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41275" algn="ctr">
              <a:lnSpc>
                <a:spcPct val="100000"/>
              </a:lnSpc>
              <a:spcBef>
                <a:spcPts val="415"/>
              </a:spcBef>
            </a:pPr>
            <a:r>
              <a:rPr sz="2550" spc="-190" dirty="0">
                <a:latin typeface="Arial MT"/>
                <a:cs typeface="Arial MT"/>
              </a:rPr>
              <a:t>Temperature</a:t>
            </a:r>
            <a:r>
              <a:rPr sz="2550" spc="80" dirty="0">
                <a:latin typeface="Arial MT"/>
                <a:cs typeface="Arial MT"/>
              </a:rPr>
              <a:t> </a:t>
            </a:r>
            <a:r>
              <a:rPr sz="2550" spc="-35" dirty="0">
                <a:latin typeface="Arial MT"/>
                <a:cs typeface="Arial MT"/>
              </a:rPr>
              <a:t>Sensor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6816" y="4493683"/>
            <a:ext cx="3733800" cy="622300"/>
          </a:xfrm>
          <a:prstGeom prst="rect">
            <a:avLst/>
          </a:prstGeom>
          <a:ln w="21166">
            <a:solidFill>
              <a:srgbClr val="54677C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265"/>
              </a:spcBef>
            </a:pPr>
            <a:r>
              <a:rPr sz="2700" spc="-215" dirty="0">
                <a:latin typeface="Arial MT"/>
                <a:cs typeface="Arial MT"/>
              </a:rPr>
              <a:t>Vibration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505" dirty="0">
                <a:latin typeface="Arial MT"/>
                <a:cs typeface="Arial MT"/>
              </a:rPr>
              <a:t>&amp;</a:t>
            </a:r>
            <a:r>
              <a:rPr sz="2700" spc="25" dirty="0">
                <a:latin typeface="Arial MT"/>
                <a:cs typeface="Arial MT"/>
              </a:rPr>
              <a:t> </a:t>
            </a:r>
            <a:r>
              <a:rPr sz="2700" spc="-155" dirty="0">
                <a:latin typeface="Arial MT"/>
                <a:cs typeface="Arial MT"/>
              </a:rPr>
              <a:t>Tilt</a:t>
            </a:r>
            <a:r>
              <a:rPr sz="2700" spc="25" dirty="0">
                <a:latin typeface="Arial MT"/>
                <a:cs typeface="Arial MT"/>
              </a:rPr>
              <a:t> </a:t>
            </a:r>
            <a:r>
              <a:rPr sz="2700" spc="-310" dirty="0">
                <a:latin typeface="Arial MT"/>
                <a:cs typeface="Arial MT"/>
              </a:rPr>
              <a:t>Sensors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4716" y="5712883"/>
            <a:ext cx="4305300" cy="3594100"/>
          </a:xfrm>
          <a:prstGeom prst="rect">
            <a:avLst/>
          </a:prstGeom>
          <a:ln w="21166">
            <a:solidFill>
              <a:srgbClr val="5B6B80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815"/>
              </a:spcBef>
            </a:pPr>
            <a:r>
              <a:rPr sz="2550" spc="-105" dirty="0">
                <a:latin typeface="Arial MT"/>
                <a:cs typeface="Arial MT"/>
              </a:rPr>
              <a:t>Navigation</a:t>
            </a:r>
            <a:r>
              <a:rPr sz="2550" spc="-40" dirty="0">
                <a:latin typeface="Arial MT"/>
                <a:cs typeface="Arial MT"/>
              </a:rPr>
              <a:t> </a:t>
            </a:r>
            <a:r>
              <a:rPr sz="2550" spc="-145" dirty="0">
                <a:latin typeface="Arial MT"/>
                <a:cs typeface="Arial MT"/>
              </a:rPr>
              <a:t>B</a:t>
            </a:r>
            <a:r>
              <a:rPr sz="2550" spc="-27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Movement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6816" y="6373283"/>
            <a:ext cx="3733800" cy="812800"/>
          </a:xfrm>
          <a:prstGeom prst="rect">
            <a:avLst/>
          </a:prstGeom>
          <a:ln w="21166">
            <a:solidFill>
              <a:srgbClr val="546777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1099820">
              <a:lnSpc>
                <a:spcPts val="2555"/>
              </a:lnSpc>
              <a:spcBef>
                <a:spcPts val="165"/>
              </a:spcBef>
            </a:pPr>
            <a:r>
              <a:rPr sz="2300" spc="-220" dirty="0">
                <a:latin typeface="Arial MT"/>
                <a:cs typeface="Arial MT"/>
              </a:rPr>
              <a:t>GPS</a:t>
            </a:r>
            <a:r>
              <a:rPr sz="2300" spc="7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Module</a:t>
            </a:r>
            <a:endParaRPr sz="2300">
              <a:latin typeface="Arial MT"/>
              <a:cs typeface="Arial MT"/>
            </a:endParaRPr>
          </a:p>
          <a:p>
            <a:pPr marL="1247775">
              <a:lnSpc>
                <a:spcPts val="2855"/>
              </a:lnSpc>
            </a:pPr>
            <a:r>
              <a:rPr sz="2550" spc="-240" dirty="0">
                <a:latin typeface="Arial MT"/>
                <a:cs typeface="Arial MT"/>
              </a:rPr>
              <a:t>(NEO-</a:t>
            </a:r>
            <a:r>
              <a:rPr sz="2550" spc="-25" dirty="0">
                <a:latin typeface="Arial MT"/>
                <a:cs typeface="Arial MT"/>
              </a:rPr>
              <a:t>6M)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6816" y="7313083"/>
            <a:ext cx="3733800" cy="825500"/>
          </a:xfrm>
          <a:prstGeom prst="rect">
            <a:avLst/>
          </a:prstGeom>
          <a:ln w="21166">
            <a:solidFill>
              <a:srgbClr val="5B6B7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065" algn="ctr">
              <a:lnSpc>
                <a:spcPts val="2670"/>
              </a:lnSpc>
            </a:pPr>
            <a:r>
              <a:rPr sz="2550" spc="-180" dirty="0">
                <a:latin typeface="Arial MT"/>
                <a:cs typeface="Arial MT"/>
              </a:rPr>
              <a:t>Rotary</a:t>
            </a:r>
            <a:r>
              <a:rPr sz="2550" spc="10" dirty="0">
                <a:latin typeface="Arial MT"/>
                <a:cs typeface="Arial MT"/>
              </a:rPr>
              <a:t> </a:t>
            </a:r>
            <a:r>
              <a:rPr sz="2550" spc="-55" dirty="0">
                <a:latin typeface="Arial MT"/>
                <a:cs typeface="Arial MT"/>
              </a:rPr>
              <a:t>Encoder</a:t>
            </a:r>
            <a:endParaRPr sz="2550">
              <a:latin typeface="Arial MT"/>
              <a:cs typeface="Arial MT"/>
            </a:endParaRPr>
          </a:p>
          <a:p>
            <a:pPr marL="12065" algn="ctr">
              <a:lnSpc>
                <a:spcPts val="2935"/>
              </a:lnSpc>
            </a:pPr>
            <a:r>
              <a:rPr sz="2700" spc="-190" dirty="0">
                <a:latin typeface="Arial MT"/>
                <a:cs typeface="Arial MT"/>
              </a:rPr>
              <a:t>(for</a:t>
            </a:r>
            <a:r>
              <a:rPr sz="2700" spc="10" dirty="0">
                <a:latin typeface="Arial MT"/>
                <a:cs typeface="Arial MT"/>
              </a:rPr>
              <a:t> </a:t>
            </a:r>
            <a:r>
              <a:rPr sz="2700" spc="-254" dirty="0">
                <a:latin typeface="Arial MT"/>
                <a:cs typeface="Arial MT"/>
              </a:rPr>
              <a:t>speed</a:t>
            </a:r>
            <a:r>
              <a:rPr sz="2700" spc="-65" dirty="0">
                <a:latin typeface="Arial MT"/>
                <a:cs typeface="Arial MT"/>
              </a:rPr>
              <a:t> </a:t>
            </a:r>
            <a:r>
              <a:rPr sz="2700" spc="-100" dirty="0">
                <a:latin typeface="Arial MT"/>
                <a:cs typeface="Arial MT"/>
              </a:rPr>
              <a:t>detection)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6816" y="8265583"/>
            <a:ext cx="3733800" cy="812800"/>
          </a:xfrm>
          <a:prstGeom prst="rect">
            <a:avLst/>
          </a:prstGeom>
          <a:ln w="21166">
            <a:solidFill>
              <a:srgbClr val="576B8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1418590" marR="961390" indent="-415925">
              <a:lnSpc>
                <a:spcPts val="2600"/>
              </a:lnSpc>
              <a:spcBef>
                <a:spcPts val="385"/>
              </a:spcBef>
            </a:pPr>
            <a:r>
              <a:rPr sz="2400" spc="-10" dirty="0">
                <a:latin typeface="Arial MT"/>
                <a:cs typeface="Arial MT"/>
              </a:rPr>
              <a:t>Motor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85" dirty="0">
                <a:latin typeface="Arial MT"/>
                <a:cs typeface="Arial MT"/>
              </a:rPr>
              <a:t>Control </a:t>
            </a:r>
            <a:r>
              <a:rPr sz="2400" spc="-10" dirty="0">
                <a:latin typeface="Arial MT"/>
                <a:cs typeface="Arial MT"/>
              </a:rPr>
              <a:t>System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5293168" y="242711"/>
            <a:ext cx="6800215" cy="999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350" spc="114" dirty="0">
                <a:solidFill>
                  <a:srgbClr val="1A1A1A"/>
                </a:solidFill>
                <a:latin typeface="Calibri"/>
                <a:cs typeface="Calibri"/>
              </a:rPr>
              <a:t>System</a:t>
            </a:r>
            <a:r>
              <a:rPr sz="6350" spc="1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6350" spc="-10" dirty="0">
                <a:solidFill>
                  <a:srgbClr val="1C1C1C"/>
                </a:solidFill>
                <a:latin typeface="Calibri"/>
                <a:cs typeface="Calibri"/>
              </a:rPr>
              <a:t>Architecture</a:t>
            </a:r>
            <a:endParaRPr sz="63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93316" y="4049183"/>
            <a:ext cx="3048000" cy="2794000"/>
          </a:xfrm>
          <a:prstGeom prst="rect">
            <a:avLst/>
          </a:prstGeom>
          <a:ln w="21166">
            <a:solidFill>
              <a:srgbClr val="5B6B8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2750">
              <a:latin typeface="Times New Roman"/>
              <a:cs typeface="Times New Roman"/>
            </a:endParaRPr>
          </a:p>
          <a:p>
            <a:pPr marL="1084580" marR="224790" indent="-635">
              <a:lnSpc>
                <a:spcPct val="83100"/>
              </a:lnSpc>
            </a:pPr>
            <a:r>
              <a:rPr sz="2850" spc="-150" dirty="0">
                <a:latin typeface="Arial MT"/>
                <a:cs typeface="Arial MT"/>
              </a:rPr>
              <a:t>Control</a:t>
            </a:r>
            <a:r>
              <a:rPr sz="2850" spc="-135" dirty="0">
                <a:latin typeface="Arial MT"/>
                <a:cs typeface="Arial MT"/>
              </a:rPr>
              <a:t> </a:t>
            </a:r>
            <a:r>
              <a:rPr sz="2850" spc="-450" dirty="0">
                <a:latin typeface="Arial MT"/>
                <a:cs typeface="Arial MT"/>
              </a:rPr>
              <a:t>&amp; </a:t>
            </a:r>
            <a:r>
              <a:rPr sz="2750" spc="-10" dirty="0">
                <a:latin typeface="Arial MT"/>
                <a:cs typeface="Arial MT"/>
              </a:rPr>
              <a:t>Sensing </a:t>
            </a:r>
            <a:r>
              <a:rPr sz="2750" spc="-160" dirty="0">
                <a:latin typeface="Arial MT"/>
                <a:cs typeface="Arial MT"/>
              </a:rPr>
              <a:t>Core:</a:t>
            </a:r>
            <a:r>
              <a:rPr sz="2750" spc="-75" dirty="0">
                <a:latin typeface="Arial MT"/>
                <a:cs typeface="Arial MT"/>
              </a:rPr>
              <a:t> </a:t>
            </a:r>
            <a:r>
              <a:rPr sz="2750" spc="-345" dirty="0">
                <a:latin typeface="Arial MT"/>
                <a:cs typeface="Arial MT"/>
              </a:rPr>
              <a:t>ESP32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58816" y="4049183"/>
            <a:ext cx="3289300" cy="2857500"/>
          </a:xfrm>
          <a:prstGeom prst="rect">
            <a:avLst/>
          </a:prstGeom>
          <a:ln w="21166">
            <a:solidFill>
              <a:srgbClr val="5B6B80"/>
            </a:solidFill>
          </a:ln>
        </p:spPr>
        <p:txBody>
          <a:bodyPr vert="horz" wrap="square" lIns="0" tIns="2946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20"/>
              </a:spcBef>
            </a:pPr>
            <a:endParaRPr sz="2700">
              <a:latin typeface="Times New Roman"/>
              <a:cs typeface="Times New Roman"/>
            </a:endParaRPr>
          </a:p>
          <a:p>
            <a:pPr marL="1036319" marR="202565" indent="13335">
              <a:lnSpc>
                <a:spcPts val="2800"/>
              </a:lnSpc>
            </a:pPr>
            <a:r>
              <a:rPr sz="2400" spc="45" dirty="0">
                <a:latin typeface="Arial MT"/>
                <a:cs typeface="Arial MT"/>
              </a:rPr>
              <a:t>Video </a:t>
            </a:r>
            <a:r>
              <a:rPr sz="2500" dirty="0">
                <a:latin typeface="Arial MT"/>
                <a:cs typeface="Arial MT"/>
              </a:rPr>
              <a:t>Processing</a:t>
            </a:r>
            <a:r>
              <a:rPr sz="2500" spc="80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&amp; </a:t>
            </a:r>
            <a:r>
              <a:rPr sz="2600" spc="-10" dirty="0">
                <a:latin typeface="Arial MT"/>
                <a:cs typeface="Arial MT"/>
              </a:rPr>
              <a:t>Streaming: </a:t>
            </a:r>
            <a:r>
              <a:rPr sz="2700" spc="-135" dirty="0">
                <a:latin typeface="Arial MT"/>
                <a:cs typeface="Arial MT"/>
              </a:rPr>
              <a:t>Raspberry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spc="-225" dirty="0">
                <a:latin typeface="Arial MT"/>
                <a:cs typeface="Arial MT"/>
              </a:rPr>
              <a:t>Pi</a:t>
            </a:r>
            <a:r>
              <a:rPr sz="2700" spc="-30" dirty="0">
                <a:latin typeface="Arial MT"/>
                <a:cs typeface="Arial MT"/>
              </a:rPr>
              <a:t> </a:t>
            </a:r>
            <a:r>
              <a:rPr sz="2700" spc="-110" dirty="0">
                <a:latin typeface="Arial MT"/>
                <a:cs typeface="Arial MT"/>
              </a:rPr>
              <a:t>5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438713" y="4112683"/>
            <a:ext cx="3492500" cy="2679700"/>
          </a:xfrm>
          <a:prstGeom prst="rect">
            <a:avLst/>
          </a:prstGeom>
          <a:ln w="21166">
            <a:solidFill>
              <a:srgbClr val="5B6B80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540385">
              <a:lnSpc>
                <a:spcPct val="100000"/>
              </a:lnSpc>
              <a:spcBef>
                <a:spcPts val="815"/>
              </a:spcBef>
            </a:pPr>
            <a:r>
              <a:rPr sz="2550" spc="-130" dirty="0">
                <a:latin typeface="Arial MT"/>
                <a:cs typeface="Arial MT"/>
              </a:rPr>
              <a:t>Operator</a:t>
            </a:r>
            <a:r>
              <a:rPr sz="2550" spc="-1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Interface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718113" y="4773083"/>
            <a:ext cx="2921000" cy="838200"/>
          </a:xfrm>
          <a:prstGeom prst="rect">
            <a:avLst/>
          </a:prstGeom>
          <a:ln w="21166">
            <a:solidFill>
              <a:srgbClr val="607080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 marL="878205" marR="652780" indent="156210">
              <a:lnSpc>
                <a:spcPct val="78800"/>
              </a:lnSpc>
              <a:spcBef>
                <a:spcPts val="515"/>
              </a:spcBef>
            </a:pPr>
            <a:r>
              <a:rPr sz="2750" spc="-409" dirty="0">
                <a:latin typeface="Arial MT"/>
                <a:cs typeface="Arial MT"/>
              </a:rPr>
              <a:t>Webcam </a:t>
            </a:r>
            <a:r>
              <a:rPr sz="2750" spc="-265" dirty="0">
                <a:latin typeface="Arial MT"/>
                <a:cs typeface="Arial MT"/>
              </a:rPr>
              <a:t>(Live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spc="-385" dirty="0">
                <a:latin typeface="Arial MT"/>
                <a:cs typeface="Arial MT"/>
              </a:rPr>
              <a:t>Feed)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814666" y="5648325"/>
            <a:ext cx="2182495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4650" spc="-1042" baseline="-19713" dirty="0">
                <a:latin typeface="Courier New"/>
                <a:cs typeface="Courier New"/>
              </a:rPr>
              <a:t>((})</a:t>
            </a:r>
            <a:r>
              <a:rPr sz="4650" spc="-397" baseline="-19713" dirty="0">
                <a:latin typeface="Courier New"/>
                <a:cs typeface="Courier New"/>
              </a:rPr>
              <a:t> </a:t>
            </a:r>
            <a:r>
              <a:rPr sz="2550" spc="-190" dirty="0">
                <a:latin typeface="Arial MT"/>
                <a:cs typeface="Arial MT"/>
              </a:rPr>
              <a:t>Wi-</a:t>
            </a:r>
            <a:r>
              <a:rPr sz="2550" spc="-160" dirty="0">
                <a:latin typeface="Arial MT"/>
                <a:cs typeface="Arial MT"/>
              </a:rPr>
              <a:t>Fi</a:t>
            </a:r>
            <a:r>
              <a:rPr sz="2550" spc="-15" dirty="0">
                <a:latin typeface="Arial MT"/>
                <a:cs typeface="Arial MT"/>
              </a:rPr>
              <a:t> </a:t>
            </a:r>
            <a:r>
              <a:rPr sz="2550" spc="-125" dirty="0">
                <a:latin typeface="Arial MT"/>
                <a:cs typeface="Arial MT"/>
              </a:rPr>
              <a:t>Data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858224" y="6069188"/>
            <a:ext cx="90233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350" spc="-95" dirty="0">
                <a:latin typeface="Arial MT"/>
                <a:cs typeface="Arial MT"/>
              </a:rPr>
              <a:t>Stream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000" y="6324600"/>
            <a:ext cx="7518400" cy="177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21800" y="6731000"/>
            <a:ext cx="7543800" cy="977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200" y="2781300"/>
            <a:ext cx="7112000" cy="1981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25000" y="2971800"/>
            <a:ext cx="7124700" cy="16002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7597" y="779991"/>
            <a:ext cx="15753080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200" spc="-40" dirty="0"/>
              <a:t>The</a:t>
            </a:r>
            <a:r>
              <a:rPr sz="5200" spc="-390" dirty="0"/>
              <a:t> </a:t>
            </a:r>
            <a:r>
              <a:rPr sz="5200" dirty="0"/>
              <a:t>Build,</a:t>
            </a:r>
            <a:r>
              <a:rPr sz="5200" spc="-505" dirty="0"/>
              <a:t> </a:t>
            </a:r>
            <a:r>
              <a:rPr sz="5200" spc="-10" dirty="0"/>
              <a:t>Part</a:t>
            </a:r>
            <a:r>
              <a:rPr sz="5200" spc="-450" dirty="0"/>
              <a:t> </a:t>
            </a:r>
            <a:r>
              <a:rPr sz="5200" spc="-140" dirty="0"/>
              <a:t>1:</a:t>
            </a:r>
            <a:r>
              <a:rPr sz="5200" spc="-585" dirty="0"/>
              <a:t> </a:t>
            </a:r>
            <a:r>
              <a:rPr sz="5200" spc="-100" dirty="0"/>
              <a:t>From</a:t>
            </a:r>
            <a:r>
              <a:rPr sz="5200" spc="-315" dirty="0"/>
              <a:t> </a:t>
            </a:r>
            <a:r>
              <a:rPr sz="5200" spc="-215" dirty="0"/>
              <a:t>Raw</a:t>
            </a:r>
            <a:r>
              <a:rPr sz="5200" spc="-165" dirty="0"/>
              <a:t> </a:t>
            </a:r>
            <a:r>
              <a:rPr sz="5200" dirty="0"/>
              <a:t>Signals</a:t>
            </a:r>
            <a:r>
              <a:rPr sz="5200" spc="-335" dirty="0"/>
              <a:t> </a:t>
            </a:r>
            <a:r>
              <a:rPr sz="5200" spc="190" dirty="0"/>
              <a:t>to</a:t>
            </a:r>
            <a:r>
              <a:rPr sz="5200" spc="-500" dirty="0"/>
              <a:t> </a:t>
            </a:r>
            <a:r>
              <a:rPr sz="5200" spc="-60" dirty="0"/>
              <a:t>Reliable</a:t>
            </a:r>
            <a:r>
              <a:rPr sz="5200" spc="25" dirty="0"/>
              <a:t> </a:t>
            </a:r>
            <a:r>
              <a:rPr sz="5200" spc="-30" dirty="0"/>
              <a:t>Senses</a:t>
            </a:r>
            <a:endParaRPr sz="5200"/>
          </a:p>
        </p:txBody>
      </p:sp>
      <p:sp>
        <p:nvSpPr>
          <p:cNvPr id="7" name="object 7"/>
          <p:cNvSpPr txBox="1"/>
          <p:nvPr/>
        </p:nvSpPr>
        <p:spPr>
          <a:xfrm>
            <a:off x="649376" y="1987550"/>
            <a:ext cx="1077214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01405" algn="l"/>
              </a:tabLst>
            </a:pPr>
            <a:r>
              <a:rPr sz="3750" spc="-10" dirty="0">
                <a:solidFill>
                  <a:srgbClr val="D47536"/>
                </a:solidFill>
                <a:latin typeface="Arial MT"/>
                <a:cs typeface="Arial MT"/>
              </a:rPr>
              <a:t>Challenges</a:t>
            </a:r>
            <a:r>
              <a:rPr sz="3750" dirty="0">
                <a:solidFill>
                  <a:srgbClr val="D47536"/>
                </a:solidFill>
                <a:latin typeface="Arial MT"/>
                <a:cs typeface="Arial MT"/>
              </a:rPr>
              <a:t>	</a:t>
            </a:r>
            <a:r>
              <a:rPr sz="3750" spc="55" dirty="0">
                <a:solidFill>
                  <a:srgbClr val="526B82"/>
                </a:solidFill>
                <a:latin typeface="Arial MT"/>
                <a:cs typeface="Arial MT"/>
              </a:rPr>
              <a:t>Solutions</a:t>
            </a:r>
            <a:endParaRPr sz="375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9184" y="4938888"/>
            <a:ext cx="7178040" cy="7448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4450" algn="just">
              <a:lnSpc>
                <a:spcPts val="2735"/>
              </a:lnSpc>
              <a:spcBef>
                <a:spcPts val="110"/>
              </a:spcBef>
            </a:pPr>
            <a:r>
              <a:rPr sz="2350" b="1" spc="135" dirty="0">
                <a:latin typeface="Arial MT"/>
                <a:cs typeface="Arial MT"/>
              </a:rPr>
              <a:t>Gas</a:t>
            </a:r>
            <a:r>
              <a:rPr sz="2350" b="1" spc="-20" dirty="0">
                <a:latin typeface="Arial MT"/>
                <a:cs typeface="Arial MT"/>
              </a:rPr>
              <a:t> </a:t>
            </a:r>
            <a:r>
              <a:rPr sz="2350" b="1" dirty="0">
                <a:latin typeface="Arial MT"/>
                <a:cs typeface="Arial MT"/>
              </a:rPr>
              <a:t>Sensor</a:t>
            </a:r>
            <a:r>
              <a:rPr sz="2350" b="1" spc="55" dirty="0">
                <a:latin typeface="Arial MT"/>
                <a:cs typeface="Arial MT"/>
              </a:rPr>
              <a:t> </a:t>
            </a:r>
            <a:r>
              <a:rPr sz="2350" b="1" spc="125" dirty="0">
                <a:latin typeface="Arial MT"/>
                <a:cs typeface="Arial MT"/>
              </a:rPr>
              <a:t>Noise:</a:t>
            </a:r>
            <a:r>
              <a:rPr sz="2350" b="1" spc="7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Initial</a:t>
            </a:r>
            <a:r>
              <a:rPr sz="2350" spc="14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readings</a:t>
            </a:r>
            <a:r>
              <a:rPr sz="2350" spc="16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from</a:t>
            </a:r>
            <a:r>
              <a:rPr sz="2350" spc="12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NO</a:t>
            </a:r>
            <a:r>
              <a:rPr sz="2250" baseline="-29629" dirty="0">
                <a:latin typeface="Arial MT"/>
                <a:cs typeface="Arial MT"/>
              </a:rPr>
              <a:t>2</a:t>
            </a:r>
            <a:r>
              <a:rPr sz="2250" spc="292" baseline="-29629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and</a:t>
            </a:r>
            <a:endParaRPr sz="2350" dirty="0">
              <a:latin typeface="Arial MT"/>
              <a:cs typeface="Arial MT"/>
            </a:endParaRPr>
          </a:p>
          <a:p>
            <a:pPr marL="38100" algn="just">
              <a:lnSpc>
                <a:spcPts val="2915"/>
              </a:lnSpc>
            </a:pPr>
            <a:r>
              <a:rPr sz="2500" spc="-55" dirty="0">
                <a:latin typeface="Arial MT"/>
                <a:cs typeface="Arial MT"/>
              </a:rPr>
              <a:t>CO</a:t>
            </a:r>
            <a:r>
              <a:rPr sz="2250" spc="-82" baseline="-29629" dirty="0">
                <a:latin typeface="Arial MT"/>
                <a:cs typeface="Arial MT"/>
              </a:rPr>
              <a:t>2</a:t>
            </a:r>
            <a:r>
              <a:rPr sz="2250" spc="-52" baseline="-29629" dirty="0">
                <a:latin typeface="Arial MT"/>
                <a:cs typeface="Arial MT"/>
              </a:rPr>
              <a:t> </a:t>
            </a:r>
            <a:r>
              <a:rPr sz="2500" spc="-40" dirty="0">
                <a:latin typeface="Arial MT"/>
                <a:cs typeface="Arial MT"/>
              </a:rPr>
              <a:t>sensors</a:t>
            </a:r>
            <a:r>
              <a:rPr sz="2500" spc="-80" dirty="0">
                <a:latin typeface="Arial MT"/>
                <a:cs typeface="Arial MT"/>
              </a:rPr>
              <a:t> </a:t>
            </a:r>
            <a:r>
              <a:rPr sz="2500" spc="-70" dirty="0">
                <a:latin typeface="Arial MT"/>
                <a:cs typeface="Arial MT"/>
              </a:rPr>
              <a:t>were</a:t>
            </a:r>
            <a:r>
              <a:rPr sz="2500" spc="-10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unstable</a:t>
            </a:r>
            <a:r>
              <a:rPr sz="2500" spc="-90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and</a:t>
            </a:r>
            <a:r>
              <a:rPr sz="2500" spc="-15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fluctuating.</a:t>
            </a:r>
            <a:endParaRPr sz="25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6845" y="8147050"/>
            <a:ext cx="6942455" cy="11239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13335" algn="just">
              <a:lnSpc>
                <a:spcPct val="94200"/>
              </a:lnSpc>
              <a:spcBef>
                <a:spcPts val="275"/>
              </a:spcBef>
            </a:pPr>
            <a:r>
              <a:rPr sz="2500" b="1" spc="55" dirty="0">
                <a:latin typeface="Arial MT"/>
                <a:cs typeface="Arial MT"/>
              </a:rPr>
              <a:t>Rotary</a:t>
            </a:r>
            <a:r>
              <a:rPr sz="2500" b="1" spc="-145" dirty="0">
                <a:latin typeface="Arial MT"/>
                <a:cs typeface="Arial MT"/>
              </a:rPr>
              <a:t> </a:t>
            </a:r>
            <a:r>
              <a:rPr sz="2500" b="1" spc="-25" dirty="0">
                <a:latin typeface="Arial MT"/>
                <a:cs typeface="Arial MT"/>
              </a:rPr>
              <a:t>Encoder</a:t>
            </a:r>
            <a:r>
              <a:rPr sz="2500" b="1" spc="-30" dirty="0">
                <a:latin typeface="Arial MT"/>
                <a:cs typeface="Arial MT"/>
              </a:rPr>
              <a:t> </a:t>
            </a:r>
            <a:r>
              <a:rPr sz="2500" b="1" spc="65" dirty="0">
                <a:latin typeface="Arial MT"/>
                <a:cs typeface="Arial MT"/>
              </a:rPr>
              <a:t>Bounce:</a:t>
            </a:r>
            <a:r>
              <a:rPr sz="2500" b="1" spc="-120" dirty="0">
                <a:latin typeface="Arial MT"/>
                <a:cs typeface="Arial MT"/>
              </a:rPr>
              <a:t> </a:t>
            </a:r>
            <a:r>
              <a:rPr sz="2500" spc="-45" dirty="0">
                <a:latin typeface="Arial MT"/>
                <a:cs typeface="Arial MT"/>
              </a:rPr>
              <a:t>Mechanical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35" dirty="0">
                <a:latin typeface="Arial MT"/>
                <a:cs typeface="Arial MT"/>
              </a:rPr>
              <a:t>bouncing </a:t>
            </a:r>
            <a:r>
              <a:rPr sz="2500" spc="-25" dirty="0">
                <a:latin typeface="Arial MT"/>
                <a:cs typeface="Arial MT"/>
              </a:rPr>
              <a:t>generated</a:t>
            </a:r>
            <a:r>
              <a:rPr sz="2500" spc="-11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multiple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false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35" dirty="0">
                <a:latin typeface="Arial MT"/>
                <a:cs typeface="Arial MT"/>
              </a:rPr>
              <a:t>pulses,</a:t>
            </a:r>
            <a:r>
              <a:rPr sz="2500" spc="-1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corrupting</a:t>
            </a:r>
            <a:r>
              <a:rPr sz="2500" spc="-10" dirty="0">
                <a:latin typeface="Arial MT"/>
                <a:cs typeface="Arial MT"/>
              </a:rPr>
              <a:t> speed detection.</a:t>
            </a:r>
            <a:endParaRPr sz="25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34796" y="4912430"/>
            <a:ext cx="7239000" cy="113030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14604" algn="just">
              <a:lnSpc>
                <a:spcPts val="2800"/>
              </a:lnSpc>
              <a:spcBef>
                <a:spcPts val="430"/>
              </a:spcBef>
              <a:tabLst>
                <a:tab pos="1755139" algn="l"/>
              </a:tabLst>
            </a:pPr>
            <a:r>
              <a:rPr sz="2550" spc="50" dirty="0">
                <a:latin typeface="Arial MT"/>
                <a:cs typeface="Arial MT"/>
              </a:rPr>
              <a:t>Data</a:t>
            </a:r>
            <a:r>
              <a:rPr sz="2550" spc="-17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Filtering</a:t>
            </a:r>
            <a:r>
              <a:rPr lang="en-IN" sz="2550" dirty="0">
                <a:latin typeface="Arial MT"/>
                <a:cs typeface="Arial MT"/>
              </a:rPr>
              <a:t> </a:t>
            </a:r>
            <a:r>
              <a:rPr sz="2550" spc="-75" dirty="0">
                <a:latin typeface="Arial MT"/>
                <a:cs typeface="Arial MT"/>
              </a:rPr>
              <a:t>Implemented</a:t>
            </a:r>
            <a:r>
              <a:rPr sz="2550" spc="155" dirty="0">
                <a:latin typeface="Arial MT"/>
                <a:cs typeface="Arial MT"/>
              </a:rPr>
              <a:t> </a:t>
            </a:r>
            <a:r>
              <a:rPr sz="2550" spc="-90" dirty="0">
                <a:latin typeface="Arial MT"/>
                <a:cs typeface="Arial MT"/>
              </a:rPr>
              <a:t>analog</a:t>
            </a:r>
            <a:r>
              <a:rPr sz="2550" spc="-2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filtering</a:t>
            </a:r>
            <a:r>
              <a:rPr sz="2550" spc="35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and </a:t>
            </a:r>
            <a:r>
              <a:rPr sz="2500" spc="-50" dirty="0">
                <a:latin typeface="Arial MT"/>
                <a:cs typeface="Arial MT"/>
              </a:rPr>
              <a:t>code-</a:t>
            </a:r>
            <a:r>
              <a:rPr sz="2500" spc="-10" dirty="0">
                <a:latin typeface="Arial MT"/>
                <a:cs typeface="Arial MT"/>
              </a:rPr>
              <a:t>based</a:t>
            </a:r>
            <a:r>
              <a:rPr sz="2500" dirty="0">
                <a:latin typeface="Arial MT"/>
                <a:cs typeface="Arial MT"/>
              </a:rPr>
              <a:t>	</a:t>
            </a:r>
            <a:r>
              <a:rPr sz="2500" spc="-40" dirty="0">
                <a:latin typeface="Arial MT"/>
                <a:cs typeface="Arial MT"/>
              </a:rPr>
              <a:t>smoothing</a:t>
            </a:r>
            <a:r>
              <a:rPr sz="2500" spc="3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algorithms</a:t>
            </a:r>
            <a:r>
              <a:rPr sz="2500" dirty="0">
                <a:latin typeface="Arial MT"/>
                <a:cs typeface="Arial MT"/>
              </a:rPr>
              <a:t> to</a:t>
            </a:r>
            <a:r>
              <a:rPr sz="2500" spc="-17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stabilize</a:t>
            </a:r>
            <a:r>
              <a:rPr sz="2500" spc="-40" dirty="0">
                <a:latin typeface="Arial MT"/>
                <a:cs typeface="Arial MT"/>
              </a:rPr>
              <a:t> </a:t>
            </a:r>
            <a:r>
              <a:rPr sz="2500" spc="-80" dirty="0">
                <a:latin typeface="Arial MT"/>
                <a:cs typeface="Arial MT"/>
              </a:rPr>
              <a:t>sensor </a:t>
            </a:r>
            <a:r>
              <a:rPr sz="2600" spc="-10" dirty="0">
                <a:latin typeface="Arial MT"/>
                <a:cs typeface="Arial MT"/>
              </a:rPr>
              <a:t>output.</a:t>
            </a:r>
            <a:endParaRPr sz="26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26998" y="8111772"/>
            <a:ext cx="7284084" cy="116014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 indent="21590" algn="just">
              <a:lnSpc>
                <a:spcPts val="2800"/>
              </a:lnSpc>
              <a:spcBef>
                <a:spcPts val="635"/>
              </a:spcBef>
            </a:pPr>
            <a:r>
              <a:rPr sz="2750" b="1" spc="-85" dirty="0">
                <a:latin typeface="Arial MT"/>
                <a:cs typeface="Arial MT"/>
              </a:rPr>
              <a:t>Signal</a:t>
            </a:r>
            <a:r>
              <a:rPr sz="2750" b="1" spc="-110" dirty="0">
                <a:latin typeface="Arial MT"/>
                <a:cs typeface="Arial MT"/>
              </a:rPr>
              <a:t> </a:t>
            </a:r>
            <a:r>
              <a:rPr sz="2750" b="1" spc="-65" dirty="0">
                <a:latin typeface="Arial MT"/>
                <a:cs typeface="Arial MT"/>
              </a:rPr>
              <a:t>Debouncing:</a:t>
            </a:r>
            <a:r>
              <a:rPr sz="2750" b="1" spc="-125" dirty="0">
                <a:latin typeface="Arial MT"/>
                <a:cs typeface="Arial MT"/>
              </a:rPr>
              <a:t> </a:t>
            </a:r>
            <a:r>
              <a:rPr sz="2750" spc="-210" dirty="0">
                <a:latin typeface="Arial MT"/>
                <a:cs typeface="Arial MT"/>
              </a:rPr>
              <a:t>Developed</a:t>
            </a:r>
            <a:r>
              <a:rPr sz="2750" spc="135" dirty="0">
                <a:latin typeface="Arial MT"/>
                <a:cs typeface="Arial MT"/>
              </a:rPr>
              <a:t> </a:t>
            </a:r>
            <a:r>
              <a:rPr sz="2750" spc="-285" dirty="0">
                <a:latin typeface="Arial MT"/>
                <a:cs typeface="Arial MT"/>
              </a:rPr>
              <a:t>and</a:t>
            </a:r>
            <a:r>
              <a:rPr sz="2750" spc="90" dirty="0">
                <a:latin typeface="Arial MT"/>
                <a:cs typeface="Arial MT"/>
              </a:rPr>
              <a:t> </a:t>
            </a:r>
            <a:r>
              <a:rPr sz="2750" spc="-150" dirty="0">
                <a:latin typeface="Arial MT"/>
                <a:cs typeface="Arial MT"/>
              </a:rPr>
              <a:t>optimized</a:t>
            </a:r>
            <a:r>
              <a:rPr sz="2750" spc="50" dirty="0">
                <a:latin typeface="Arial MT"/>
                <a:cs typeface="Arial MT"/>
              </a:rPr>
              <a:t> </a:t>
            </a:r>
            <a:r>
              <a:rPr sz="2750" spc="-114" dirty="0">
                <a:latin typeface="Arial MT"/>
                <a:cs typeface="Arial MT"/>
              </a:rPr>
              <a:t>an </a:t>
            </a:r>
            <a:r>
              <a:rPr sz="2750" spc="-105" dirty="0">
                <a:latin typeface="Arial MT"/>
                <a:cs typeface="Arial MT"/>
              </a:rPr>
              <a:t>Interrupt</a:t>
            </a:r>
            <a:r>
              <a:rPr sz="2750" spc="85" dirty="0">
                <a:latin typeface="Arial MT"/>
                <a:cs typeface="Arial MT"/>
              </a:rPr>
              <a:t> </a:t>
            </a:r>
            <a:r>
              <a:rPr sz="2750" spc="-210" dirty="0">
                <a:latin typeface="Arial MT"/>
                <a:cs typeface="Arial MT"/>
              </a:rPr>
              <a:t>Service</a:t>
            </a:r>
            <a:r>
              <a:rPr sz="2750" spc="25" dirty="0">
                <a:latin typeface="Arial MT"/>
                <a:cs typeface="Arial MT"/>
              </a:rPr>
              <a:t> </a:t>
            </a:r>
            <a:r>
              <a:rPr sz="2750" spc="-220" dirty="0">
                <a:latin typeface="Arial MT"/>
                <a:cs typeface="Arial MT"/>
              </a:rPr>
              <a:t>Routine</a:t>
            </a:r>
            <a:r>
              <a:rPr sz="2750" spc="30" dirty="0">
                <a:latin typeface="Arial MT"/>
                <a:cs typeface="Arial MT"/>
              </a:rPr>
              <a:t> </a:t>
            </a:r>
            <a:r>
              <a:rPr sz="2750" spc="-320" dirty="0">
                <a:latin typeface="Arial MT"/>
                <a:cs typeface="Arial MT"/>
              </a:rPr>
              <a:t>(ISR)</a:t>
            </a:r>
            <a:r>
              <a:rPr sz="2750" spc="190" dirty="0">
                <a:latin typeface="Arial MT"/>
                <a:cs typeface="Arial MT"/>
              </a:rPr>
              <a:t> </a:t>
            </a:r>
            <a:r>
              <a:rPr sz="2750" spc="-145" dirty="0">
                <a:latin typeface="Arial MT"/>
                <a:cs typeface="Arial MT"/>
              </a:rPr>
              <a:t>with</a:t>
            </a:r>
            <a:r>
              <a:rPr sz="2750" spc="-45" dirty="0">
                <a:latin typeface="Arial MT"/>
                <a:cs typeface="Arial MT"/>
              </a:rPr>
              <a:t> </a:t>
            </a:r>
            <a:r>
              <a:rPr sz="2750" spc="-175" dirty="0">
                <a:latin typeface="Arial MT"/>
                <a:cs typeface="Arial MT"/>
              </a:rPr>
              <a:t>debouncing</a:t>
            </a:r>
            <a:r>
              <a:rPr sz="2750" spc="2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logic </a:t>
            </a:r>
            <a:r>
              <a:rPr sz="2750" spc="-114" dirty="0">
                <a:latin typeface="Arial MT"/>
                <a:cs typeface="Arial MT"/>
              </a:rPr>
              <a:t>to</a:t>
            </a:r>
            <a:r>
              <a:rPr sz="2750" spc="-105" dirty="0">
                <a:latin typeface="Arial MT"/>
                <a:cs typeface="Arial MT"/>
              </a:rPr>
              <a:t> </a:t>
            </a:r>
            <a:r>
              <a:rPr sz="2750" spc="-200" dirty="0">
                <a:latin typeface="Arial MT"/>
                <a:cs typeface="Arial MT"/>
              </a:rPr>
              <a:t>ensure</a:t>
            </a:r>
            <a:r>
              <a:rPr sz="2750" spc="10" dirty="0">
                <a:latin typeface="Arial MT"/>
                <a:cs typeface="Arial MT"/>
              </a:rPr>
              <a:t> </a:t>
            </a:r>
            <a:r>
              <a:rPr sz="2750" spc="-180" dirty="0">
                <a:latin typeface="Arial MT"/>
                <a:cs typeface="Arial MT"/>
              </a:rPr>
              <a:t>accurate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spc="-170" dirty="0">
                <a:latin typeface="Arial MT"/>
                <a:cs typeface="Arial MT"/>
              </a:rPr>
              <a:t>pulse</a:t>
            </a:r>
            <a:r>
              <a:rPr sz="2750" dirty="0">
                <a:latin typeface="Arial MT"/>
                <a:cs typeface="Arial MT"/>
              </a:rPr>
              <a:t> </a:t>
            </a:r>
            <a:r>
              <a:rPr sz="2750" spc="-130" dirty="0">
                <a:latin typeface="Arial MT"/>
                <a:cs typeface="Arial MT"/>
              </a:rPr>
              <a:t>detection</a:t>
            </a:r>
            <a:r>
              <a:rPr sz="2750" spc="80" dirty="0">
                <a:latin typeface="Arial MT"/>
                <a:cs typeface="Arial MT"/>
              </a:rPr>
              <a:t> </a:t>
            </a:r>
            <a:r>
              <a:rPr sz="2750" spc="-160" dirty="0">
                <a:latin typeface="Arial MT"/>
                <a:cs typeface="Arial MT"/>
              </a:rPr>
              <a:t>from</a:t>
            </a:r>
            <a:r>
              <a:rPr sz="2750" spc="-80" dirty="0">
                <a:latin typeface="Arial MT"/>
                <a:cs typeface="Arial MT"/>
              </a:rPr>
              <a:t> </a:t>
            </a:r>
            <a:r>
              <a:rPr sz="2750" spc="-120" dirty="0">
                <a:latin typeface="Arial MT"/>
                <a:cs typeface="Arial MT"/>
              </a:rPr>
              <a:t>the</a:t>
            </a:r>
            <a:r>
              <a:rPr sz="2750" spc="-95" dirty="0">
                <a:latin typeface="Arial MT"/>
                <a:cs typeface="Arial MT"/>
              </a:rPr>
              <a:t> </a:t>
            </a:r>
            <a:r>
              <a:rPr sz="2750" spc="-135" dirty="0">
                <a:latin typeface="Arial MT"/>
                <a:cs typeface="Arial MT"/>
              </a:rPr>
              <a:t>encoder.</a:t>
            </a:r>
            <a:endParaRPr sz="27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2590" y="2952892"/>
            <a:ext cx="6400800" cy="38670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50500" y="2692400"/>
            <a:ext cx="5511800" cy="41275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56770" y="757413"/>
            <a:ext cx="15405735" cy="8616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450" spc="-40" dirty="0"/>
              <a:t>The</a:t>
            </a:r>
            <a:r>
              <a:rPr sz="5450" spc="-229" dirty="0"/>
              <a:t> </a:t>
            </a:r>
            <a:r>
              <a:rPr sz="5450" dirty="0"/>
              <a:t>Build,</a:t>
            </a:r>
            <a:r>
              <a:rPr sz="5450" spc="-365" dirty="0"/>
              <a:t> </a:t>
            </a:r>
            <a:r>
              <a:rPr sz="5450" dirty="0"/>
              <a:t>Part</a:t>
            </a:r>
            <a:r>
              <a:rPr sz="5450" spc="160" dirty="0"/>
              <a:t> </a:t>
            </a:r>
            <a:r>
              <a:rPr sz="5450" spc="110" dirty="0"/>
              <a:t>2:</a:t>
            </a:r>
            <a:r>
              <a:rPr sz="5450" spc="-335" dirty="0"/>
              <a:t> </a:t>
            </a:r>
            <a:r>
              <a:rPr sz="5450" dirty="0"/>
              <a:t>Achieving</a:t>
            </a:r>
            <a:r>
              <a:rPr sz="5450" spc="-65" dirty="0"/>
              <a:t> </a:t>
            </a:r>
            <a:r>
              <a:rPr sz="5450" dirty="0"/>
              <a:t>Positional</a:t>
            </a:r>
            <a:r>
              <a:rPr sz="5450" spc="390" dirty="0"/>
              <a:t> </a:t>
            </a:r>
            <a:r>
              <a:rPr sz="5450" spc="-10" dirty="0"/>
              <a:t>Awareness</a:t>
            </a:r>
            <a:endParaRPr sz="5450"/>
          </a:p>
        </p:txBody>
      </p:sp>
      <p:sp>
        <p:nvSpPr>
          <p:cNvPr id="5" name="object 5"/>
          <p:cNvSpPr txBox="1"/>
          <p:nvPr/>
        </p:nvSpPr>
        <p:spPr>
          <a:xfrm>
            <a:off x="649376" y="1987550"/>
            <a:ext cx="1053401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14105" algn="l"/>
              </a:tabLst>
            </a:pPr>
            <a:r>
              <a:rPr sz="3750" spc="-10" dirty="0">
                <a:solidFill>
                  <a:srgbClr val="C4793F"/>
                </a:solidFill>
                <a:latin typeface="Arial MT"/>
                <a:cs typeface="Arial MT"/>
              </a:rPr>
              <a:t>Challenge</a:t>
            </a:r>
            <a:r>
              <a:rPr sz="3750" dirty="0">
                <a:solidFill>
                  <a:srgbClr val="C4793F"/>
                </a:solidFill>
                <a:latin typeface="Arial MT"/>
                <a:cs typeface="Arial MT"/>
              </a:rPr>
              <a:t>	</a:t>
            </a:r>
            <a:r>
              <a:rPr sz="3750" spc="50" dirty="0">
                <a:solidFill>
                  <a:srgbClr val="4D606E"/>
                </a:solidFill>
                <a:latin typeface="Arial MT"/>
                <a:cs typeface="Arial MT"/>
              </a:rPr>
              <a:t>Solution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9079" y="7195268"/>
            <a:ext cx="7186930" cy="146494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 marR="5080" indent="15875" algn="just">
              <a:lnSpc>
                <a:spcPct val="89300"/>
              </a:lnSpc>
              <a:spcBef>
                <a:spcPts val="445"/>
              </a:spcBef>
            </a:pPr>
            <a:r>
              <a:rPr sz="2550" b="1" dirty="0">
                <a:latin typeface="Arial MT"/>
                <a:cs typeface="Arial MT"/>
              </a:rPr>
              <a:t>Satellite</a:t>
            </a:r>
            <a:r>
              <a:rPr sz="2550" b="1" spc="-15" dirty="0">
                <a:latin typeface="Arial MT"/>
                <a:cs typeface="Arial MT"/>
              </a:rPr>
              <a:t> </a:t>
            </a:r>
            <a:r>
              <a:rPr sz="2550" b="1" spc="100" dirty="0">
                <a:latin typeface="Arial MT"/>
                <a:cs typeface="Arial MT"/>
              </a:rPr>
              <a:t>Acquisition:</a:t>
            </a:r>
            <a:r>
              <a:rPr sz="2550" b="1" spc="-135" dirty="0">
                <a:latin typeface="Arial MT"/>
                <a:cs typeface="Arial MT"/>
              </a:rPr>
              <a:t> </a:t>
            </a:r>
            <a:r>
              <a:rPr sz="2550" spc="-55" dirty="0">
                <a:latin typeface="Arial MT"/>
                <a:cs typeface="Arial MT"/>
              </a:rPr>
              <a:t>The</a:t>
            </a:r>
            <a:r>
              <a:rPr sz="2550" spc="-10" dirty="0">
                <a:latin typeface="Arial MT"/>
                <a:cs typeface="Arial MT"/>
              </a:rPr>
              <a:t> </a:t>
            </a:r>
            <a:r>
              <a:rPr sz="2550" spc="-105" dirty="0">
                <a:latin typeface="Arial MT"/>
                <a:cs typeface="Arial MT"/>
              </a:rPr>
              <a:t>NEO-</a:t>
            </a:r>
            <a:r>
              <a:rPr sz="2550" dirty="0">
                <a:latin typeface="Arial MT"/>
                <a:cs typeface="Arial MT"/>
              </a:rPr>
              <a:t>6M</a:t>
            </a:r>
            <a:r>
              <a:rPr sz="2550" spc="150" dirty="0">
                <a:latin typeface="Arial MT"/>
                <a:cs typeface="Arial MT"/>
              </a:rPr>
              <a:t> </a:t>
            </a:r>
            <a:r>
              <a:rPr sz="2550" spc="-300" dirty="0">
                <a:latin typeface="Arial MT"/>
                <a:cs typeface="Arial MT"/>
              </a:rPr>
              <a:t>GPS </a:t>
            </a:r>
            <a:r>
              <a:rPr sz="2550" spc="-10" dirty="0">
                <a:latin typeface="Arial MT"/>
                <a:cs typeface="Arial MT"/>
              </a:rPr>
              <a:t>module</a:t>
            </a:r>
            <a:r>
              <a:rPr sz="2550" spc="-114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experienced</a:t>
            </a:r>
            <a:r>
              <a:rPr sz="2550" spc="5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significant</a:t>
            </a:r>
            <a:r>
              <a:rPr sz="2550" spc="10" dirty="0">
                <a:latin typeface="Arial MT"/>
                <a:cs typeface="Arial MT"/>
              </a:rPr>
              <a:t> </a:t>
            </a:r>
            <a:r>
              <a:rPr sz="2550" spc="-30" dirty="0">
                <a:latin typeface="Arial MT"/>
                <a:cs typeface="Arial MT"/>
              </a:rPr>
              <a:t>delays</a:t>
            </a:r>
            <a:r>
              <a:rPr sz="2550" spc="-12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in</a:t>
            </a:r>
            <a:r>
              <a:rPr sz="2550" spc="-17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achieving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15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satellite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-35" dirty="0">
                <a:latin typeface="Arial MT"/>
                <a:cs typeface="Arial MT"/>
              </a:rPr>
              <a:t>lock,</a:t>
            </a:r>
            <a:r>
              <a:rPr sz="2600" spc="-145" dirty="0">
                <a:latin typeface="Arial MT"/>
                <a:cs typeface="Arial MT"/>
              </a:rPr>
              <a:t> </a:t>
            </a:r>
            <a:r>
              <a:rPr sz="2600" spc="-30" dirty="0">
                <a:latin typeface="Arial MT"/>
                <a:cs typeface="Arial MT"/>
              </a:rPr>
              <a:t>hindering</a:t>
            </a:r>
            <a:r>
              <a:rPr sz="2600" spc="-105" dirty="0">
                <a:latin typeface="Arial MT"/>
                <a:cs typeface="Arial MT"/>
              </a:rPr>
              <a:t> </a:t>
            </a:r>
            <a:r>
              <a:rPr sz="2600" spc="-45" dirty="0">
                <a:latin typeface="Arial MT"/>
                <a:cs typeface="Arial MT"/>
              </a:rPr>
              <a:t>real-</a:t>
            </a:r>
            <a:r>
              <a:rPr sz="2600" dirty="0">
                <a:latin typeface="Arial MT"/>
                <a:cs typeface="Arial MT"/>
              </a:rPr>
              <a:t>time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location </a:t>
            </a:r>
            <a:r>
              <a:rPr sz="2550" dirty="0">
                <a:latin typeface="Arial MT"/>
                <a:cs typeface="Arial MT"/>
              </a:rPr>
              <a:t>location</a:t>
            </a:r>
            <a:r>
              <a:rPr sz="2550" spc="1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tracking.</a:t>
            </a:r>
            <a:endParaRPr sz="255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23400" y="7086034"/>
            <a:ext cx="7632112" cy="218059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 indent="13970" algn="just">
              <a:lnSpc>
                <a:spcPct val="88700"/>
              </a:lnSpc>
              <a:spcBef>
                <a:spcPts val="490"/>
              </a:spcBef>
            </a:pPr>
            <a:r>
              <a:rPr sz="2600" b="1" dirty="0">
                <a:latin typeface="Arial MT"/>
                <a:cs typeface="Arial MT"/>
              </a:rPr>
              <a:t>Protocol</a:t>
            </a:r>
            <a:r>
              <a:rPr sz="2600" b="1" spc="-120" dirty="0">
                <a:latin typeface="Arial MT"/>
                <a:cs typeface="Arial MT"/>
              </a:rPr>
              <a:t> </a:t>
            </a:r>
            <a:r>
              <a:rPr sz="2600" b="1" spc="-110" dirty="0">
                <a:latin typeface="Arial MT"/>
                <a:cs typeface="Arial MT"/>
              </a:rPr>
              <a:t>&amp;</a:t>
            </a:r>
            <a:r>
              <a:rPr sz="2600" b="1" spc="-250" dirty="0">
                <a:latin typeface="Arial MT"/>
                <a:cs typeface="Arial MT"/>
              </a:rPr>
              <a:t> </a:t>
            </a:r>
            <a:r>
              <a:rPr sz="2600" b="1" dirty="0">
                <a:latin typeface="Arial MT"/>
                <a:cs typeface="Arial MT"/>
              </a:rPr>
              <a:t>Placement:</a:t>
            </a:r>
            <a:r>
              <a:rPr sz="2600" b="1" spc="185" dirty="0">
                <a:latin typeface="Arial MT"/>
                <a:cs typeface="Arial MT"/>
              </a:rPr>
              <a:t> </a:t>
            </a:r>
            <a:r>
              <a:rPr sz="2600" spc="-85" dirty="0">
                <a:latin typeface="Arial MT"/>
                <a:cs typeface="Arial MT"/>
              </a:rPr>
              <a:t>Diagnosed</a:t>
            </a:r>
            <a:r>
              <a:rPr sz="2600" spc="1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45" dirty="0">
                <a:latin typeface="Arial MT"/>
                <a:cs typeface="Arial MT"/>
              </a:rPr>
              <a:t>issue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spc="-100" dirty="0">
                <a:latin typeface="Arial MT"/>
                <a:cs typeface="Arial MT"/>
              </a:rPr>
              <a:t>as</a:t>
            </a:r>
            <a:r>
              <a:rPr sz="2600" spc="45" dirty="0">
                <a:latin typeface="Arial MT"/>
                <a:cs typeface="Arial MT"/>
              </a:rPr>
              <a:t> </a:t>
            </a:r>
            <a:r>
              <a:rPr sz="2600" spc="-50" dirty="0">
                <a:latin typeface="Arial MT"/>
                <a:cs typeface="Arial MT"/>
              </a:rPr>
              <a:t>a </a:t>
            </a:r>
            <a:r>
              <a:rPr sz="2600" spc="-80" dirty="0">
                <a:latin typeface="Arial MT"/>
                <a:cs typeface="Arial MT"/>
              </a:rPr>
              <a:t>signal</a:t>
            </a:r>
            <a:r>
              <a:rPr sz="2600" spc="-105" dirty="0">
                <a:latin typeface="Arial MT"/>
                <a:cs typeface="Arial MT"/>
              </a:rPr>
              <a:t> </a:t>
            </a:r>
            <a:r>
              <a:rPr sz="2600" spc="-45" dirty="0">
                <a:latin typeface="Arial MT"/>
                <a:cs typeface="Arial MT"/>
              </a:rPr>
              <a:t>problem.</a:t>
            </a:r>
            <a:r>
              <a:rPr sz="2600" spc="-135" dirty="0">
                <a:latin typeface="Arial MT"/>
                <a:cs typeface="Arial MT"/>
              </a:rPr>
              <a:t> </a:t>
            </a:r>
            <a:r>
              <a:rPr sz="2600" spc="-45" dirty="0">
                <a:latin typeface="Arial MT"/>
                <a:cs typeface="Arial MT"/>
              </a:rPr>
              <a:t>Improved</a:t>
            </a:r>
            <a:r>
              <a:rPr sz="2600" spc="-114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satellite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-30" dirty="0">
                <a:latin typeface="Arial MT"/>
                <a:cs typeface="Arial MT"/>
              </a:rPr>
              <a:t>acquisition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speed </a:t>
            </a:r>
            <a:r>
              <a:rPr sz="2600" dirty="0">
                <a:latin typeface="Arial MT"/>
                <a:cs typeface="Arial MT"/>
              </a:rPr>
              <a:t>by</a:t>
            </a:r>
            <a:r>
              <a:rPr sz="2600" spc="-18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strategically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placing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135" dirty="0">
                <a:latin typeface="Arial MT"/>
                <a:cs typeface="Arial MT"/>
              </a:rPr>
              <a:t> </a:t>
            </a:r>
            <a:r>
              <a:rPr sz="2600" spc="-60" dirty="0">
                <a:latin typeface="Arial MT"/>
                <a:cs typeface="Arial MT"/>
              </a:rPr>
              <a:t>antenna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spc="-55" dirty="0">
                <a:latin typeface="Arial MT"/>
                <a:cs typeface="Arial MT"/>
              </a:rPr>
              <a:t>and</a:t>
            </a:r>
            <a:r>
              <a:rPr sz="2600" spc="-130" dirty="0">
                <a:latin typeface="Arial MT"/>
                <a:cs typeface="Arial MT"/>
              </a:rPr>
              <a:t> </a:t>
            </a:r>
            <a:r>
              <a:rPr sz="2600" spc="-35" dirty="0">
                <a:latin typeface="Arial MT"/>
                <a:cs typeface="Arial MT"/>
              </a:rPr>
              <a:t>establishing </a:t>
            </a:r>
            <a:r>
              <a:rPr sz="2600" spc="-50" dirty="0">
                <a:latin typeface="Arial MT"/>
                <a:cs typeface="Arial MT"/>
              </a:rPr>
              <a:t>an</a:t>
            </a:r>
            <a:r>
              <a:rPr sz="2600" spc="-13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outdoor</a:t>
            </a:r>
            <a:r>
              <a:rPr sz="2600" spc="-1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testing</a:t>
            </a:r>
            <a:r>
              <a:rPr sz="2600" spc="-1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protocol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with</a:t>
            </a:r>
            <a:r>
              <a:rPr sz="2600" spc="-150" dirty="0">
                <a:latin typeface="Arial MT"/>
                <a:cs typeface="Arial MT"/>
              </a:rPr>
              <a:t> </a:t>
            </a:r>
            <a:r>
              <a:rPr sz="2600" spc="-210" dirty="0">
                <a:latin typeface="Arial MT"/>
                <a:cs typeface="Arial MT"/>
              </a:rPr>
              <a:t>a</a:t>
            </a:r>
            <a:r>
              <a:rPr sz="2600" spc="2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clear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sky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view.</a:t>
            </a:r>
            <a:endParaRPr sz="2600" dirty="0">
              <a:latin typeface="Arial MT"/>
              <a:cs typeface="Arial MT"/>
            </a:endParaRPr>
          </a:p>
          <a:p>
            <a:pPr marL="15875" marR="1065530" indent="635" algn="just">
              <a:lnSpc>
                <a:spcPts val="2700"/>
              </a:lnSpc>
              <a:spcBef>
                <a:spcPts val="120"/>
              </a:spcBef>
            </a:pPr>
            <a:r>
              <a:rPr sz="2600" spc="-45" dirty="0">
                <a:latin typeface="Arial MT"/>
                <a:cs typeface="Arial MT"/>
              </a:rPr>
              <a:t>This</a:t>
            </a:r>
            <a:r>
              <a:rPr sz="2600" spc="-140" dirty="0">
                <a:latin typeface="Arial MT"/>
                <a:cs typeface="Arial MT"/>
              </a:rPr>
              <a:t> </a:t>
            </a:r>
            <a:r>
              <a:rPr sz="2600" spc="-65" dirty="0">
                <a:latin typeface="Arial MT"/>
                <a:cs typeface="Arial MT"/>
              </a:rPr>
              <a:t>also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validated</a:t>
            </a:r>
            <a:r>
              <a:rPr sz="2600" spc="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125" dirty="0">
                <a:latin typeface="Arial MT"/>
                <a:cs typeface="Arial MT"/>
              </a:rPr>
              <a:t> </a:t>
            </a:r>
            <a:r>
              <a:rPr sz="2600" spc="-95" dirty="0">
                <a:latin typeface="Arial MT"/>
                <a:cs typeface="Arial MT"/>
              </a:rPr>
              <a:t>use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120" dirty="0">
                <a:latin typeface="Arial MT"/>
                <a:cs typeface="Arial MT"/>
              </a:rPr>
              <a:t> </a:t>
            </a:r>
            <a:r>
              <a:rPr sz="2600" spc="-175" dirty="0">
                <a:latin typeface="Arial MT"/>
                <a:cs typeface="Arial MT"/>
              </a:rPr>
              <a:t>TinyGPS+</a:t>
            </a:r>
            <a:r>
              <a:rPr sz="2600" spc="-340" dirty="0">
                <a:latin typeface="Arial MT"/>
                <a:cs typeface="Arial MT"/>
              </a:rPr>
              <a:t> </a:t>
            </a:r>
            <a:r>
              <a:rPr sz="2600" spc="-50" dirty="0">
                <a:latin typeface="Arial MT"/>
                <a:cs typeface="Arial MT"/>
              </a:rPr>
              <a:t>+ </a:t>
            </a:r>
            <a:r>
              <a:rPr sz="2600" dirty="0">
                <a:latin typeface="Arial MT"/>
                <a:cs typeface="Arial MT"/>
              </a:rPr>
              <a:t>library</a:t>
            </a:r>
            <a:r>
              <a:rPr sz="2600" spc="-10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for</a:t>
            </a:r>
            <a:r>
              <a:rPr sz="2600" spc="-180" dirty="0">
                <a:latin typeface="Arial MT"/>
                <a:cs typeface="Arial MT"/>
              </a:rPr>
              <a:t> </a:t>
            </a:r>
            <a:r>
              <a:rPr sz="2600" spc="-45" dirty="0">
                <a:latin typeface="Arial MT"/>
                <a:cs typeface="Arial MT"/>
              </a:rPr>
              <a:t>parsing</a:t>
            </a:r>
            <a:r>
              <a:rPr sz="2600" spc="-100" dirty="0">
                <a:latin typeface="Arial MT"/>
                <a:cs typeface="Arial MT"/>
              </a:rPr>
              <a:t> </a:t>
            </a:r>
            <a:r>
              <a:rPr sz="2600" spc="-160" dirty="0">
                <a:latin typeface="Arial MT"/>
                <a:cs typeface="Arial MT"/>
              </a:rPr>
              <a:t>NMEA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data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85" dirty="0">
                <a:latin typeface="Arial MT"/>
                <a:cs typeface="Arial MT"/>
              </a:rPr>
              <a:t>via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UART.</a:t>
            </a:r>
            <a:endParaRPr sz="2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4016" y="750358"/>
            <a:ext cx="5022850" cy="946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50" spc="-40" dirty="0">
                <a:solidFill>
                  <a:srgbClr val="1F1F1F"/>
                </a:solidFill>
              </a:rPr>
              <a:t>The</a:t>
            </a:r>
            <a:r>
              <a:rPr sz="6050" spc="-390" dirty="0">
                <a:solidFill>
                  <a:srgbClr val="1F1F1F"/>
                </a:solidFill>
              </a:rPr>
              <a:t> </a:t>
            </a:r>
            <a:r>
              <a:rPr sz="6050" spc="-10" dirty="0">
                <a:solidFill>
                  <a:srgbClr val="1F1F1F"/>
                </a:solidFill>
              </a:rPr>
              <a:t>Build,</a:t>
            </a:r>
            <a:r>
              <a:rPr sz="6050" spc="-434" dirty="0">
                <a:solidFill>
                  <a:srgbClr val="1F1F1F"/>
                </a:solidFill>
              </a:rPr>
              <a:t> </a:t>
            </a:r>
            <a:r>
              <a:rPr sz="6050" spc="-20" dirty="0">
                <a:solidFill>
                  <a:srgbClr val="212121"/>
                </a:solidFill>
              </a:rPr>
              <a:t>Part</a:t>
            </a:r>
            <a:endParaRPr sz="6050"/>
          </a:p>
        </p:txBody>
      </p:sp>
      <p:sp>
        <p:nvSpPr>
          <p:cNvPr id="3" name="object 3"/>
          <p:cNvSpPr txBox="1"/>
          <p:nvPr/>
        </p:nvSpPr>
        <p:spPr>
          <a:xfrm>
            <a:off x="6761037" y="750358"/>
            <a:ext cx="9809480" cy="1936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50" spc="70" dirty="0">
                <a:solidFill>
                  <a:srgbClr val="212121"/>
                </a:solidFill>
                <a:latin typeface="Arial MT"/>
                <a:cs typeface="Arial MT"/>
              </a:rPr>
              <a:t>Integrating</a:t>
            </a:r>
            <a:r>
              <a:rPr sz="605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6050" spc="-210" dirty="0">
                <a:solidFill>
                  <a:srgbClr val="282828"/>
                </a:solidFill>
                <a:latin typeface="Arial MT"/>
                <a:cs typeface="Arial MT"/>
              </a:rPr>
              <a:t>a</a:t>
            </a:r>
            <a:r>
              <a:rPr sz="6050" spc="-409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6050" spc="45" dirty="0">
                <a:solidFill>
                  <a:srgbClr val="212121"/>
                </a:solidFill>
                <a:latin typeface="Arial MT"/>
                <a:cs typeface="Arial MT"/>
              </a:rPr>
              <a:t>Unified</a:t>
            </a:r>
            <a:r>
              <a:rPr sz="6050" spc="-2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6050" spc="-10" dirty="0">
                <a:solidFill>
                  <a:srgbClr val="212121"/>
                </a:solidFill>
                <a:latin typeface="Arial MT"/>
                <a:cs typeface="Arial MT"/>
              </a:rPr>
              <a:t>System</a:t>
            </a:r>
            <a:endParaRPr sz="6050">
              <a:latin typeface="Arial MT"/>
              <a:cs typeface="Arial MT"/>
            </a:endParaRPr>
          </a:p>
          <a:p>
            <a:pPr marL="5090160">
              <a:lnSpc>
                <a:spcPct val="100000"/>
              </a:lnSpc>
              <a:spcBef>
                <a:spcPts val="2990"/>
              </a:spcBef>
            </a:pPr>
            <a:r>
              <a:rPr sz="4000" spc="95" dirty="0">
                <a:solidFill>
                  <a:srgbClr val="4B6480"/>
                </a:solidFill>
                <a:latin typeface="Arial MT"/>
                <a:cs typeface="Arial MT"/>
              </a:rPr>
              <a:t>Solutions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1419" y="2047522"/>
            <a:ext cx="268732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70" dirty="0">
                <a:solidFill>
                  <a:srgbClr val="D47736"/>
                </a:solidFill>
                <a:latin typeface="Arial MT"/>
                <a:cs typeface="Arial MT"/>
              </a:rPr>
              <a:t>Challenges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1431" y="4899377"/>
            <a:ext cx="6475095" cy="995044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15240" algn="just">
              <a:lnSpc>
                <a:spcPct val="93000"/>
              </a:lnSpc>
              <a:spcBef>
                <a:spcPts val="305"/>
              </a:spcBef>
            </a:pPr>
            <a:r>
              <a:rPr sz="2200" b="1" dirty="0">
                <a:latin typeface="Arial MT"/>
                <a:cs typeface="Arial MT"/>
              </a:rPr>
              <a:t>Processing</a:t>
            </a:r>
            <a:r>
              <a:rPr sz="2200" b="1" spc="-75" dirty="0">
                <a:latin typeface="Arial MT"/>
                <a:cs typeface="Arial MT"/>
              </a:rPr>
              <a:t> </a:t>
            </a:r>
            <a:r>
              <a:rPr sz="2200" b="1" spc="70" dirty="0">
                <a:latin typeface="Arial MT"/>
                <a:cs typeface="Arial MT"/>
              </a:rPr>
              <a:t>Latency:</a:t>
            </a:r>
            <a:r>
              <a:rPr sz="2200" b="1" spc="-85" dirty="0">
                <a:latin typeface="Arial MT"/>
                <a:cs typeface="Arial MT"/>
              </a:rPr>
              <a:t> </a:t>
            </a:r>
            <a:r>
              <a:rPr sz="2200" spc="-80" dirty="0">
                <a:latin typeface="Arial MT"/>
                <a:cs typeface="Arial MT"/>
              </a:rPr>
              <a:t>Running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multiple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processes </a:t>
            </a:r>
            <a:r>
              <a:rPr sz="2150" dirty="0">
                <a:latin typeface="Arial MT"/>
                <a:cs typeface="Arial MT"/>
              </a:rPr>
              <a:t>simultaneously</a:t>
            </a:r>
            <a:r>
              <a:rPr sz="2150" spc="-85" dirty="0">
                <a:latin typeface="Arial MT"/>
                <a:cs typeface="Arial MT"/>
              </a:rPr>
              <a:t> </a:t>
            </a:r>
            <a:r>
              <a:rPr sz="2150" spc="-30" dirty="0">
                <a:latin typeface="Arial MT"/>
                <a:cs typeface="Arial MT"/>
              </a:rPr>
              <a:t>(sensing,</a:t>
            </a:r>
            <a:r>
              <a:rPr sz="2150" spc="-50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movement,</a:t>
            </a:r>
            <a:r>
              <a:rPr sz="2150" spc="-5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communication) </a:t>
            </a:r>
            <a:r>
              <a:rPr sz="2300" spc="-114" dirty="0">
                <a:latin typeface="Arial MT"/>
                <a:cs typeface="Arial MT"/>
              </a:rPr>
              <a:t>caused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spc="-40" dirty="0">
                <a:latin typeface="Arial MT"/>
                <a:cs typeface="Arial MT"/>
              </a:rPr>
              <a:t>slight</a:t>
            </a:r>
            <a:r>
              <a:rPr sz="2300" spc="-120" dirty="0">
                <a:latin typeface="Arial MT"/>
                <a:cs typeface="Arial MT"/>
              </a:rPr>
              <a:t> </a:t>
            </a:r>
            <a:r>
              <a:rPr sz="2300" spc="-55" dirty="0">
                <a:latin typeface="Arial MT"/>
                <a:cs typeface="Arial MT"/>
              </a:rPr>
              <a:t>but</a:t>
            </a:r>
            <a:r>
              <a:rPr sz="2300" spc="-90" dirty="0">
                <a:latin typeface="Arial MT"/>
                <a:cs typeface="Arial MT"/>
              </a:rPr>
              <a:t> </a:t>
            </a:r>
            <a:r>
              <a:rPr sz="2300" spc="-70" dirty="0">
                <a:latin typeface="Arial MT"/>
                <a:cs typeface="Arial MT"/>
              </a:rPr>
              <a:t>noticeable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spc="-95" dirty="0">
                <a:latin typeface="Arial MT"/>
                <a:cs typeface="Arial MT"/>
              </a:rPr>
              <a:t>delays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spc="-80" dirty="0">
                <a:latin typeface="Arial MT"/>
                <a:cs typeface="Arial MT"/>
              </a:rPr>
              <a:t>in</a:t>
            </a:r>
            <a:r>
              <a:rPr sz="2300" spc="-95" dirty="0">
                <a:latin typeface="Arial MT"/>
                <a:cs typeface="Arial MT"/>
              </a:rPr>
              <a:t> rover</a:t>
            </a:r>
            <a:r>
              <a:rPr sz="2300" dirty="0">
                <a:latin typeface="Arial MT"/>
                <a:cs typeface="Arial MT"/>
              </a:rPr>
              <a:t> </a:t>
            </a:r>
            <a:r>
              <a:rPr sz="2300" spc="-55" dirty="0">
                <a:latin typeface="Arial MT"/>
                <a:cs typeface="Arial MT"/>
              </a:rPr>
              <a:t>response.</a:t>
            </a:r>
            <a:endParaRPr sz="23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4058" y="8013347"/>
            <a:ext cx="6353810" cy="998991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8890" algn="just">
              <a:lnSpc>
                <a:spcPts val="2450"/>
              </a:lnSpc>
              <a:spcBef>
                <a:spcPts val="290"/>
              </a:spcBef>
            </a:pPr>
            <a:r>
              <a:rPr sz="2150" b="1" spc="85" dirty="0">
                <a:latin typeface="Arial MT"/>
                <a:cs typeface="Arial MT"/>
              </a:rPr>
              <a:t>Signal</a:t>
            </a:r>
            <a:r>
              <a:rPr sz="2150" b="1" spc="-220" dirty="0">
                <a:latin typeface="Arial MT"/>
                <a:cs typeface="Arial MT"/>
              </a:rPr>
              <a:t> </a:t>
            </a:r>
            <a:r>
              <a:rPr sz="2150" b="1" spc="75" dirty="0">
                <a:latin typeface="Arial MT"/>
                <a:cs typeface="Arial MT"/>
              </a:rPr>
              <a:t>Interference:</a:t>
            </a:r>
            <a:r>
              <a:rPr sz="2150" b="1" spc="-150" dirty="0">
                <a:latin typeface="Arial MT"/>
                <a:cs typeface="Arial MT"/>
              </a:rPr>
              <a:t> </a:t>
            </a:r>
            <a:r>
              <a:rPr sz="2150" spc="-40" dirty="0">
                <a:latin typeface="Arial MT"/>
                <a:cs typeface="Arial MT"/>
              </a:rPr>
              <a:t>The</a:t>
            </a:r>
            <a:r>
              <a:rPr sz="2150" spc="-65" dirty="0">
                <a:latin typeface="Arial MT"/>
                <a:cs typeface="Arial MT"/>
              </a:rPr>
              <a:t> </a:t>
            </a:r>
            <a:r>
              <a:rPr sz="2150" spc="-235" dirty="0">
                <a:latin typeface="Arial MT"/>
                <a:cs typeface="Arial MT"/>
              </a:rPr>
              <a:t>GPS</a:t>
            </a:r>
            <a:r>
              <a:rPr sz="2150" spc="35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and</a:t>
            </a:r>
            <a:r>
              <a:rPr sz="2150" spc="-120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Wi-</a:t>
            </a:r>
            <a:r>
              <a:rPr sz="2150" dirty="0">
                <a:latin typeface="Arial MT"/>
                <a:cs typeface="Arial MT"/>
              </a:rPr>
              <a:t>Fi</a:t>
            </a:r>
            <a:r>
              <a:rPr sz="2150" spc="-9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modules </a:t>
            </a:r>
            <a:r>
              <a:rPr sz="2200" dirty="0">
                <a:latin typeface="Arial MT"/>
                <a:cs typeface="Arial MT"/>
              </a:rPr>
              <a:t>interfered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each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5" dirty="0">
                <a:latin typeface="Arial MT"/>
                <a:cs typeface="Arial MT"/>
              </a:rPr>
              <a:t>other,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35" dirty="0">
                <a:latin typeface="Arial MT"/>
                <a:cs typeface="Arial MT"/>
              </a:rPr>
              <a:t>causing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instability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15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both </a:t>
            </a:r>
            <a:r>
              <a:rPr sz="2150" dirty="0">
                <a:latin typeface="Arial MT"/>
                <a:cs typeface="Arial MT"/>
              </a:rPr>
              <a:t>location</a:t>
            </a:r>
            <a:r>
              <a:rPr sz="2150" spc="-14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data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and</a:t>
            </a:r>
            <a:r>
              <a:rPr sz="2150" spc="-1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the</a:t>
            </a:r>
            <a:r>
              <a:rPr sz="2150" spc="-15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data</a:t>
            </a:r>
            <a:r>
              <a:rPr sz="2150" spc="4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stream.</a:t>
            </a:r>
            <a:endParaRPr sz="215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15599" y="4896908"/>
            <a:ext cx="6924040" cy="9969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9525" algn="just">
              <a:lnSpc>
                <a:spcPct val="91800"/>
              </a:lnSpc>
              <a:spcBef>
                <a:spcPts val="315"/>
              </a:spcBef>
            </a:pPr>
            <a:r>
              <a:rPr sz="2300" b="1" dirty="0">
                <a:latin typeface="Arial MT"/>
                <a:cs typeface="Arial MT"/>
              </a:rPr>
              <a:t>Code</a:t>
            </a:r>
            <a:r>
              <a:rPr sz="2300" b="1" spc="-105" dirty="0">
                <a:latin typeface="Arial MT"/>
                <a:cs typeface="Arial MT"/>
              </a:rPr>
              <a:t> </a:t>
            </a:r>
            <a:r>
              <a:rPr sz="2300" b="1" spc="-20" dirty="0">
                <a:latin typeface="Arial MT"/>
                <a:cs typeface="Arial MT"/>
              </a:rPr>
              <a:t>Optimization:</a:t>
            </a:r>
            <a:r>
              <a:rPr sz="2300" b="1" spc="-340" dirty="0">
                <a:latin typeface="Arial MT"/>
                <a:cs typeface="Arial MT"/>
              </a:rPr>
              <a:t> </a:t>
            </a:r>
            <a:r>
              <a:rPr sz="2300" spc="-110" dirty="0">
                <a:latin typeface="Arial MT"/>
                <a:cs typeface="Arial MT"/>
              </a:rPr>
              <a:t>Refactored</a:t>
            </a:r>
            <a:r>
              <a:rPr sz="2300" spc="15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the</a:t>
            </a:r>
            <a:r>
              <a:rPr sz="2300" spc="-155" dirty="0">
                <a:latin typeface="Arial MT"/>
                <a:cs typeface="Arial MT"/>
              </a:rPr>
              <a:t> </a:t>
            </a:r>
            <a:r>
              <a:rPr sz="2300" spc="-90" dirty="0">
                <a:latin typeface="Arial MT"/>
                <a:cs typeface="Arial MT"/>
              </a:rPr>
              <a:t>code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spc="-30" dirty="0">
                <a:latin typeface="Arial MT"/>
                <a:cs typeface="Arial MT"/>
              </a:rPr>
              <a:t>to</a:t>
            </a:r>
            <a:r>
              <a:rPr sz="2300" spc="-12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remove </a:t>
            </a:r>
            <a:r>
              <a:rPr sz="2150" dirty="0">
                <a:latin typeface="Arial MT"/>
                <a:cs typeface="Arial MT"/>
              </a:rPr>
              <a:t>blocking</a:t>
            </a:r>
            <a:r>
              <a:rPr sz="2150" spc="-8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delays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and</a:t>
            </a:r>
            <a:r>
              <a:rPr sz="2150" spc="-12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improve</a:t>
            </a:r>
            <a:r>
              <a:rPr sz="2150" spc="-114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process</a:t>
            </a:r>
            <a:r>
              <a:rPr sz="2150" spc="-105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handling,</a:t>
            </a:r>
            <a:r>
              <a:rPr sz="2150" spc="-13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increasing </a:t>
            </a:r>
            <a:r>
              <a:rPr sz="2300" spc="-30" dirty="0">
                <a:latin typeface="Arial MT"/>
                <a:cs typeface="Arial MT"/>
              </a:rPr>
              <a:t>responsiveness.</a:t>
            </a:r>
            <a:endParaRPr sz="23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11120" y="8013347"/>
            <a:ext cx="7328534" cy="998991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13335" algn="just">
              <a:lnSpc>
                <a:spcPts val="2450"/>
              </a:lnSpc>
              <a:spcBef>
                <a:spcPts val="290"/>
              </a:spcBef>
            </a:pPr>
            <a:r>
              <a:rPr sz="2150" b="1" spc="114" dirty="0">
                <a:latin typeface="Arial MT"/>
                <a:cs typeface="Arial MT"/>
              </a:rPr>
              <a:t>Hardware</a:t>
            </a:r>
            <a:r>
              <a:rPr sz="2150" b="1" spc="-65" dirty="0">
                <a:latin typeface="Arial MT"/>
                <a:cs typeface="Arial MT"/>
              </a:rPr>
              <a:t> </a:t>
            </a:r>
            <a:r>
              <a:rPr sz="2150" b="1" dirty="0">
                <a:latin typeface="Arial MT"/>
                <a:cs typeface="Arial MT"/>
              </a:rPr>
              <a:t>Isolation:</a:t>
            </a:r>
            <a:r>
              <a:rPr sz="2150" b="1" spc="-5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Physically</a:t>
            </a:r>
            <a:r>
              <a:rPr sz="2150" spc="250" dirty="0">
                <a:latin typeface="Arial MT"/>
                <a:cs typeface="Arial MT"/>
              </a:rPr>
              <a:t> </a:t>
            </a:r>
            <a:r>
              <a:rPr sz="2150" spc="-25" dirty="0">
                <a:latin typeface="Arial MT"/>
                <a:cs typeface="Arial MT"/>
              </a:rPr>
              <a:t>separated</a:t>
            </a:r>
            <a:r>
              <a:rPr sz="2150" spc="1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the</a:t>
            </a:r>
            <a:r>
              <a:rPr sz="2150" spc="-3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wiring  </a:t>
            </a:r>
            <a:r>
              <a:rPr sz="2300" spc="-70" dirty="0">
                <a:latin typeface="Arial MT"/>
                <a:cs typeface="Arial MT"/>
              </a:rPr>
              <a:t>paths</a:t>
            </a:r>
            <a:r>
              <a:rPr sz="2300" spc="-90" dirty="0">
                <a:latin typeface="Arial MT"/>
                <a:cs typeface="Arial MT"/>
              </a:rPr>
              <a:t> </a:t>
            </a:r>
            <a:r>
              <a:rPr sz="2300" spc="-150" dirty="0">
                <a:latin typeface="Arial MT"/>
                <a:cs typeface="Arial MT"/>
              </a:rPr>
              <a:t>and</a:t>
            </a:r>
            <a:r>
              <a:rPr sz="2300" spc="-75" dirty="0">
                <a:latin typeface="Arial MT"/>
                <a:cs typeface="Arial MT"/>
              </a:rPr>
              <a:t> </a:t>
            </a:r>
            <a:r>
              <a:rPr sz="2300" spc="-70" dirty="0">
                <a:latin typeface="Arial MT"/>
                <a:cs typeface="Arial MT"/>
              </a:rPr>
              <a:t>optimized</a:t>
            </a:r>
            <a:r>
              <a:rPr sz="2300" spc="-90" dirty="0">
                <a:latin typeface="Arial MT"/>
                <a:cs typeface="Arial MT"/>
              </a:rPr>
              <a:t> </a:t>
            </a:r>
            <a:r>
              <a:rPr sz="2300" spc="-60" dirty="0">
                <a:latin typeface="Arial MT"/>
                <a:cs typeface="Arial MT"/>
              </a:rPr>
              <a:t>the</a:t>
            </a:r>
            <a:r>
              <a:rPr sz="2300" spc="-110" dirty="0">
                <a:latin typeface="Arial MT"/>
                <a:cs typeface="Arial MT"/>
              </a:rPr>
              <a:t> </a:t>
            </a:r>
            <a:r>
              <a:rPr sz="2300" spc="-90" dirty="0">
                <a:latin typeface="Arial MT"/>
                <a:cs typeface="Arial MT"/>
              </a:rPr>
              <a:t>placement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of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spc="-60" dirty="0">
                <a:latin typeface="Arial MT"/>
                <a:cs typeface="Arial MT"/>
              </a:rPr>
              <a:t>the</a:t>
            </a:r>
            <a:r>
              <a:rPr sz="2300" spc="-140" dirty="0">
                <a:latin typeface="Arial MT"/>
                <a:cs typeface="Arial MT"/>
              </a:rPr>
              <a:t> </a:t>
            </a:r>
            <a:r>
              <a:rPr sz="2300" spc="-310" dirty="0">
                <a:latin typeface="Arial MT"/>
                <a:cs typeface="Arial MT"/>
              </a:rPr>
              <a:t>RF</a:t>
            </a:r>
            <a:r>
              <a:rPr sz="2300" spc="-85" dirty="0">
                <a:latin typeface="Arial MT"/>
                <a:cs typeface="Arial MT"/>
              </a:rPr>
              <a:t> </a:t>
            </a:r>
            <a:r>
              <a:rPr sz="2300" spc="-114" dirty="0">
                <a:latin typeface="Arial MT"/>
                <a:cs typeface="Arial MT"/>
              </a:rPr>
              <a:t>modules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spc="-110" dirty="0">
                <a:latin typeface="Arial MT"/>
                <a:cs typeface="Arial MT"/>
              </a:rPr>
              <a:t>on</a:t>
            </a:r>
            <a:r>
              <a:rPr sz="2300" spc="-75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the </a:t>
            </a:r>
            <a:r>
              <a:rPr sz="2150" dirty="0">
                <a:latin typeface="Arial MT"/>
                <a:cs typeface="Arial MT"/>
              </a:rPr>
              <a:t>chassis</a:t>
            </a:r>
            <a:r>
              <a:rPr sz="2150" spc="-5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to</a:t>
            </a:r>
            <a:r>
              <a:rPr sz="2150" spc="-3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reduce</a:t>
            </a:r>
            <a:r>
              <a:rPr sz="2150" spc="-85" dirty="0">
                <a:latin typeface="Arial MT"/>
                <a:cs typeface="Arial MT"/>
              </a:rPr>
              <a:t> </a:t>
            </a:r>
            <a:r>
              <a:rPr sz="2150" spc="-30" dirty="0">
                <a:latin typeface="Arial MT"/>
                <a:cs typeface="Arial MT"/>
              </a:rPr>
              <a:t>signal</a:t>
            </a:r>
            <a:r>
              <a:rPr sz="2150" spc="-12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interference.</a:t>
            </a:r>
            <a:endParaRPr sz="21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4000" y="2527300"/>
            <a:ext cx="10109200" cy="64516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946400" y="609600"/>
            <a:ext cx="10579100" cy="0"/>
          </a:xfrm>
          <a:custGeom>
            <a:avLst/>
            <a:gdLst/>
            <a:ahLst/>
            <a:cxnLst/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52757" y="882756"/>
            <a:ext cx="13412469" cy="808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100" spc="80" dirty="0"/>
              <a:t>The</a:t>
            </a:r>
            <a:r>
              <a:rPr sz="5100" spc="-285" dirty="0"/>
              <a:t> </a:t>
            </a:r>
            <a:r>
              <a:rPr sz="5100" spc="100" dirty="0"/>
              <a:t>Build,</a:t>
            </a:r>
            <a:r>
              <a:rPr sz="5100" spc="-405" dirty="0"/>
              <a:t> </a:t>
            </a:r>
            <a:r>
              <a:rPr sz="5100" spc="110" dirty="0"/>
              <a:t>Part</a:t>
            </a:r>
            <a:r>
              <a:rPr sz="5100" spc="45" dirty="0"/>
              <a:t> </a:t>
            </a:r>
            <a:r>
              <a:rPr sz="5100" spc="185" dirty="0"/>
              <a:t>4:</a:t>
            </a:r>
            <a:r>
              <a:rPr sz="5100" spc="-305" dirty="0"/>
              <a:t> </a:t>
            </a:r>
            <a:r>
              <a:rPr sz="5100" spc="-110" dirty="0"/>
              <a:t>A</a:t>
            </a:r>
            <a:r>
              <a:rPr sz="5100" spc="-260" dirty="0"/>
              <a:t> </a:t>
            </a:r>
            <a:r>
              <a:rPr sz="5100" spc="95" dirty="0"/>
              <a:t>Foundation</a:t>
            </a:r>
            <a:r>
              <a:rPr sz="5100" spc="35" dirty="0"/>
              <a:t> </a:t>
            </a:r>
            <a:r>
              <a:rPr sz="5100" spc="175" dirty="0"/>
              <a:t>for</a:t>
            </a:r>
            <a:r>
              <a:rPr sz="5100" spc="-95" dirty="0"/>
              <a:t> </a:t>
            </a:r>
            <a:r>
              <a:rPr sz="5100" spc="85" dirty="0"/>
              <a:t>Reliability</a:t>
            </a:r>
            <a:endParaRPr sz="5100" dirty="0"/>
          </a:p>
        </p:txBody>
      </p:sp>
      <p:sp>
        <p:nvSpPr>
          <p:cNvPr id="5" name="object 5"/>
          <p:cNvSpPr txBox="1"/>
          <p:nvPr/>
        </p:nvSpPr>
        <p:spPr>
          <a:xfrm>
            <a:off x="743987" y="2472972"/>
            <a:ext cx="4952365" cy="31972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635" algn="just">
              <a:lnSpc>
                <a:spcPct val="91000"/>
              </a:lnSpc>
              <a:spcBef>
                <a:spcPts val="425"/>
              </a:spcBef>
            </a:pPr>
            <a:r>
              <a:rPr sz="2750" spc="-10" dirty="0">
                <a:latin typeface="Arial MT"/>
                <a:cs typeface="Arial MT"/>
              </a:rPr>
              <a:t>Objective:</a:t>
            </a:r>
            <a:r>
              <a:rPr sz="2750" spc="-150" dirty="0">
                <a:latin typeface="Arial MT"/>
                <a:cs typeface="Arial MT"/>
              </a:rPr>
              <a:t> </a:t>
            </a:r>
            <a:r>
              <a:rPr sz="2750" spc="-260" dirty="0">
                <a:latin typeface="Arial MT"/>
                <a:cs typeface="Arial MT"/>
              </a:rPr>
              <a:t>To</a:t>
            </a:r>
            <a:r>
              <a:rPr sz="2750" spc="-100" dirty="0">
                <a:latin typeface="Arial MT"/>
                <a:cs typeface="Arial MT"/>
              </a:rPr>
              <a:t> </a:t>
            </a:r>
            <a:r>
              <a:rPr sz="2750" spc="-55" dirty="0">
                <a:latin typeface="Arial MT"/>
                <a:cs typeface="Arial MT"/>
              </a:rPr>
              <a:t>create</a:t>
            </a:r>
            <a:r>
              <a:rPr sz="2750" spc="-85" dirty="0">
                <a:latin typeface="Arial MT"/>
                <a:cs typeface="Arial MT"/>
              </a:rPr>
              <a:t> </a:t>
            </a:r>
            <a:r>
              <a:rPr sz="2750" spc="-275" dirty="0">
                <a:latin typeface="Arial MT"/>
                <a:cs typeface="Arial MT"/>
              </a:rPr>
              <a:t>a</a:t>
            </a:r>
            <a:r>
              <a:rPr sz="2750" spc="-10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robust, </a:t>
            </a:r>
            <a:r>
              <a:rPr sz="2850" spc="-135" dirty="0">
                <a:latin typeface="Arial MT"/>
                <a:cs typeface="Arial MT"/>
              </a:rPr>
              <a:t>reliable</a:t>
            </a:r>
            <a:r>
              <a:rPr sz="2850" spc="-60" dirty="0">
                <a:latin typeface="Arial MT"/>
                <a:cs typeface="Arial MT"/>
              </a:rPr>
              <a:t> </a:t>
            </a:r>
            <a:r>
              <a:rPr sz="2850" spc="-110" dirty="0">
                <a:latin typeface="Arial MT"/>
                <a:cs typeface="Arial MT"/>
              </a:rPr>
              <a:t>motor-</a:t>
            </a:r>
            <a:r>
              <a:rPr sz="2850" spc="-45" dirty="0">
                <a:latin typeface="Arial MT"/>
                <a:cs typeface="Arial MT"/>
              </a:rPr>
              <a:t>control</a:t>
            </a:r>
            <a:r>
              <a:rPr sz="2850" spc="20" dirty="0">
                <a:latin typeface="Arial MT"/>
                <a:cs typeface="Arial MT"/>
              </a:rPr>
              <a:t> </a:t>
            </a:r>
            <a:r>
              <a:rPr sz="2850" spc="-125" dirty="0">
                <a:latin typeface="Arial MT"/>
                <a:cs typeface="Arial MT"/>
              </a:rPr>
              <a:t>subsystem, </a:t>
            </a:r>
            <a:r>
              <a:rPr sz="2700" spc="-114" dirty="0">
                <a:latin typeface="Arial MT"/>
                <a:cs typeface="Arial MT"/>
              </a:rPr>
              <a:t>we</a:t>
            </a:r>
            <a:r>
              <a:rPr sz="2700" spc="-90" dirty="0">
                <a:latin typeface="Arial MT"/>
                <a:cs typeface="Arial MT"/>
              </a:rPr>
              <a:t> </a:t>
            </a:r>
            <a:r>
              <a:rPr sz="2700" spc="-45" dirty="0">
                <a:latin typeface="Arial MT"/>
                <a:cs typeface="Arial MT"/>
              </a:rPr>
              <a:t>designed</a:t>
            </a:r>
            <a:r>
              <a:rPr sz="2700" spc="-140" dirty="0">
                <a:latin typeface="Arial MT"/>
                <a:cs typeface="Arial MT"/>
              </a:rPr>
              <a:t> </a:t>
            </a:r>
            <a:r>
              <a:rPr sz="2700" spc="-254" dirty="0">
                <a:latin typeface="Arial MT"/>
                <a:cs typeface="Arial MT"/>
              </a:rPr>
              <a:t>a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spc="-40" dirty="0">
                <a:latin typeface="Arial MT"/>
                <a:cs typeface="Arial MT"/>
              </a:rPr>
              <a:t>custom</a:t>
            </a:r>
            <a:r>
              <a:rPr sz="2700" spc="-110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Printed </a:t>
            </a:r>
            <a:r>
              <a:rPr sz="2850" spc="-95" dirty="0">
                <a:latin typeface="Arial MT"/>
                <a:cs typeface="Arial MT"/>
              </a:rPr>
              <a:t>Circuit</a:t>
            </a:r>
            <a:r>
              <a:rPr sz="2850" spc="-55" dirty="0">
                <a:latin typeface="Arial MT"/>
                <a:cs typeface="Arial MT"/>
              </a:rPr>
              <a:t> </a:t>
            </a:r>
            <a:r>
              <a:rPr sz="2850" spc="-190" dirty="0">
                <a:latin typeface="Arial MT"/>
                <a:cs typeface="Arial MT"/>
              </a:rPr>
              <a:t>Board</a:t>
            </a:r>
            <a:r>
              <a:rPr sz="2850" spc="-20" dirty="0">
                <a:latin typeface="Arial MT"/>
                <a:cs typeface="Arial MT"/>
              </a:rPr>
              <a:t> </a:t>
            </a:r>
            <a:r>
              <a:rPr sz="2850" spc="-60" dirty="0">
                <a:latin typeface="Arial MT"/>
                <a:cs typeface="Arial MT"/>
              </a:rPr>
              <a:t>(PCB).</a:t>
            </a:r>
            <a:endParaRPr sz="2850" dirty="0">
              <a:latin typeface="Arial MT"/>
              <a:cs typeface="Arial MT"/>
            </a:endParaRPr>
          </a:p>
          <a:p>
            <a:pPr marL="17780" algn="just">
              <a:lnSpc>
                <a:spcPts val="3170"/>
              </a:lnSpc>
              <a:spcBef>
                <a:spcPts val="2880"/>
              </a:spcBef>
            </a:pPr>
            <a:r>
              <a:rPr sz="2700" b="1" spc="-10" dirty="0">
                <a:latin typeface="Arial MT"/>
                <a:cs typeface="Arial MT"/>
              </a:rPr>
              <a:t>Benefits:</a:t>
            </a:r>
            <a:endParaRPr sz="2700" b="1" dirty="0">
              <a:latin typeface="Arial MT"/>
              <a:cs typeface="Arial MT"/>
            </a:endParaRPr>
          </a:p>
          <a:p>
            <a:pPr marL="777875" algn="just">
              <a:lnSpc>
                <a:spcPts val="3025"/>
              </a:lnSpc>
            </a:pPr>
            <a:r>
              <a:rPr sz="2700" spc="-114" dirty="0">
                <a:latin typeface="Arial MT"/>
                <a:cs typeface="Arial MT"/>
              </a:rPr>
              <a:t>Ensures</a:t>
            </a:r>
            <a:r>
              <a:rPr sz="2700" spc="-75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stable</a:t>
            </a:r>
            <a:r>
              <a:rPr sz="2700" spc="-12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performance</a:t>
            </a:r>
            <a:endParaRPr sz="2700" dirty="0">
              <a:latin typeface="Arial MT"/>
              <a:cs typeface="Arial MT"/>
            </a:endParaRPr>
          </a:p>
          <a:p>
            <a:pPr marL="768350" algn="just">
              <a:lnSpc>
                <a:spcPts val="3395"/>
              </a:lnSpc>
            </a:pPr>
            <a:r>
              <a:rPr sz="2950" spc="-185" dirty="0">
                <a:latin typeface="Arial MT"/>
                <a:cs typeface="Arial MT"/>
              </a:rPr>
              <a:t>under</a:t>
            </a:r>
            <a:r>
              <a:rPr sz="2950" spc="10" dirty="0">
                <a:latin typeface="Arial MT"/>
                <a:cs typeface="Arial MT"/>
              </a:rPr>
              <a:t> </a:t>
            </a:r>
            <a:r>
              <a:rPr sz="2950" spc="-45" dirty="0">
                <a:latin typeface="Arial MT"/>
                <a:cs typeface="Arial MT"/>
              </a:rPr>
              <a:t>vibration.</a:t>
            </a:r>
            <a:endParaRPr sz="295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4967" y="5725583"/>
            <a:ext cx="195580" cy="279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-50" dirty="0">
                <a:solidFill>
                  <a:srgbClr val="111111"/>
                </a:solidFill>
                <a:latin typeface="Arial MT"/>
                <a:cs typeface="Arial MT"/>
              </a:rPr>
              <a:t>O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4967" y="6525683"/>
            <a:ext cx="195580" cy="279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spc="-50" dirty="0">
                <a:solidFill>
                  <a:srgbClr val="131313"/>
                </a:solidFill>
                <a:latin typeface="Arial MT"/>
                <a:cs typeface="Arial MT"/>
              </a:rPr>
              <a:t>O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9946" y="5601052"/>
            <a:ext cx="3992245" cy="1668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" algn="just">
              <a:lnSpc>
                <a:spcPts val="3210"/>
              </a:lnSpc>
              <a:spcBef>
                <a:spcPts val="95"/>
              </a:spcBef>
            </a:pPr>
            <a:r>
              <a:rPr sz="2850" spc="-225" dirty="0">
                <a:latin typeface="Arial MT"/>
                <a:cs typeface="Arial MT"/>
              </a:rPr>
              <a:t>Reduces</a:t>
            </a:r>
            <a:r>
              <a:rPr sz="2850" spc="20" dirty="0">
                <a:latin typeface="Arial MT"/>
                <a:cs typeface="Arial MT"/>
              </a:rPr>
              <a:t> </a:t>
            </a:r>
            <a:r>
              <a:rPr sz="2850" spc="-150" dirty="0">
                <a:latin typeface="Arial MT"/>
                <a:cs typeface="Arial MT"/>
              </a:rPr>
              <a:t>complex</a:t>
            </a:r>
            <a:r>
              <a:rPr sz="2850" spc="20" dirty="0">
                <a:latin typeface="Arial MT"/>
                <a:cs typeface="Arial MT"/>
              </a:rPr>
              <a:t> </a:t>
            </a:r>
            <a:r>
              <a:rPr sz="2850" spc="-55" dirty="0">
                <a:latin typeface="Arial MT"/>
                <a:cs typeface="Arial MT"/>
              </a:rPr>
              <a:t>point-</a:t>
            </a:r>
            <a:r>
              <a:rPr sz="2850" spc="-25" dirty="0">
                <a:latin typeface="Arial MT"/>
                <a:cs typeface="Arial MT"/>
              </a:rPr>
              <a:t>to-</a:t>
            </a:r>
            <a:endParaRPr sz="2850" dirty="0">
              <a:latin typeface="Arial MT"/>
              <a:cs typeface="Arial MT"/>
            </a:endParaRPr>
          </a:p>
          <a:p>
            <a:pPr marL="23495" algn="just">
              <a:lnSpc>
                <a:spcPts val="3320"/>
              </a:lnSpc>
            </a:pPr>
            <a:r>
              <a:rPr sz="3050" spc="-180" dirty="0">
                <a:latin typeface="Arial MT"/>
                <a:cs typeface="Arial MT"/>
              </a:rPr>
              <a:t>point</a:t>
            </a:r>
            <a:r>
              <a:rPr sz="3050" spc="5" dirty="0">
                <a:latin typeface="Arial MT"/>
                <a:cs typeface="Arial MT"/>
              </a:rPr>
              <a:t> </a:t>
            </a:r>
            <a:r>
              <a:rPr sz="3050" spc="-40" dirty="0">
                <a:latin typeface="Arial MT"/>
                <a:cs typeface="Arial MT"/>
              </a:rPr>
              <a:t>wiring.</a:t>
            </a:r>
            <a:endParaRPr sz="3050" dirty="0">
              <a:latin typeface="Arial MT"/>
              <a:cs typeface="Arial MT"/>
            </a:endParaRPr>
          </a:p>
          <a:p>
            <a:pPr marL="16510" algn="just">
              <a:lnSpc>
                <a:spcPts val="3045"/>
              </a:lnSpc>
            </a:pPr>
            <a:r>
              <a:rPr sz="2750" spc="-95" dirty="0">
                <a:latin typeface="Arial MT"/>
                <a:cs typeface="Arial MT"/>
              </a:rPr>
              <a:t>Improves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spc="-75" dirty="0">
                <a:latin typeface="Arial MT"/>
                <a:cs typeface="Arial MT"/>
              </a:rPr>
              <a:t>overall</a:t>
            </a:r>
            <a:r>
              <a:rPr sz="2750" spc="-8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system</a:t>
            </a:r>
            <a:endParaRPr sz="2750" dirty="0">
              <a:latin typeface="Arial MT"/>
              <a:cs typeface="Arial MT"/>
            </a:endParaRPr>
          </a:p>
          <a:p>
            <a:pPr marL="12700" algn="just">
              <a:lnSpc>
                <a:spcPts val="3354"/>
              </a:lnSpc>
            </a:pPr>
            <a:r>
              <a:rPr sz="2900" spc="-30" dirty="0">
                <a:latin typeface="Arial MT"/>
                <a:cs typeface="Arial MT"/>
              </a:rPr>
              <a:t>reliability.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6548" y="7676091"/>
            <a:ext cx="4851400" cy="83185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4604" marR="5080" indent="-2540">
              <a:lnSpc>
                <a:spcPts val="3100"/>
              </a:lnSpc>
              <a:spcBef>
                <a:spcPts val="325"/>
              </a:spcBef>
            </a:pPr>
            <a:r>
              <a:rPr sz="2700" dirty="0">
                <a:latin typeface="Arial MT"/>
                <a:cs typeface="Arial MT"/>
              </a:rPr>
              <a:t>Status:</a:t>
            </a:r>
            <a:r>
              <a:rPr sz="2700" spc="-190" dirty="0">
                <a:latin typeface="Arial MT"/>
                <a:cs typeface="Arial MT"/>
              </a:rPr>
              <a:t> </a:t>
            </a:r>
            <a:r>
              <a:rPr sz="2700" spc="-55" dirty="0">
                <a:latin typeface="Arial MT"/>
                <a:cs typeface="Arial MT"/>
              </a:rPr>
              <a:t>Component</a:t>
            </a:r>
            <a:r>
              <a:rPr sz="2700" spc="-70" dirty="0">
                <a:latin typeface="Arial MT"/>
                <a:cs typeface="Arial MT"/>
              </a:rPr>
              <a:t> </a:t>
            </a:r>
            <a:r>
              <a:rPr sz="2700" spc="-40" dirty="0">
                <a:latin typeface="Arial MT"/>
                <a:cs typeface="Arial MT"/>
              </a:rPr>
              <a:t>placement</a:t>
            </a:r>
            <a:r>
              <a:rPr sz="2700" spc="-90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is </a:t>
            </a:r>
            <a:r>
              <a:rPr sz="2700" spc="-30" dirty="0">
                <a:latin typeface="Arial MT"/>
                <a:cs typeface="Arial MT"/>
              </a:rPr>
              <a:t>complete</a:t>
            </a:r>
            <a:r>
              <a:rPr lang="en-IN" sz="2700" spc="-30" dirty="0">
                <a:latin typeface="Arial MT"/>
                <a:cs typeface="Arial MT"/>
              </a:rPr>
              <a:t>,</a:t>
            </a:r>
            <a:r>
              <a:rPr sz="2700" spc="-10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routing</a:t>
            </a:r>
            <a:r>
              <a:rPr sz="2700" spc="-75" dirty="0">
                <a:latin typeface="Arial MT"/>
                <a:cs typeface="Arial MT"/>
              </a:rPr>
              <a:t> </a:t>
            </a:r>
            <a:r>
              <a:rPr sz="2700" spc="-20" dirty="0">
                <a:latin typeface="Arial MT"/>
                <a:cs typeface="Arial MT"/>
              </a:rPr>
              <a:t>is</a:t>
            </a:r>
            <a:r>
              <a:rPr lang="en-IN" sz="2700" spc="-165" dirty="0">
                <a:latin typeface="Arial MT"/>
                <a:cs typeface="Arial MT"/>
              </a:rPr>
              <a:t> in</a:t>
            </a:r>
            <a:r>
              <a:rPr sz="2700" spc="-170" dirty="0">
                <a:solidFill>
                  <a:srgbClr val="C3793F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progress.</a:t>
            </a:r>
            <a:endParaRPr sz="27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4400" y="7277100"/>
            <a:ext cx="952500" cy="863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8400" y="7264400"/>
            <a:ext cx="914400" cy="901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88600" y="7264400"/>
            <a:ext cx="762000" cy="901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27200" y="7264400"/>
            <a:ext cx="812800" cy="901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06500" y="2984500"/>
            <a:ext cx="7480300" cy="3771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88400" y="5003800"/>
            <a:ext cx="7823200" cy="17526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93200" y="3441700"/>
            <a:ext cx="2108200" cy="6985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84000" y="3429000"/>
            <a:ext cx="2120900" cy="8636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287500" y="3416300"/>
            <a:ext cx="2120900" cy="8382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135100" y="3073400"/>
            <a:ext cx="825500" cy="1270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040100" y="2311400"/>
            <a:ext cx="114300" cy="13970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746083" y="857602"/>
            <a:ext cx="13604875" cy="840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350" spc="-65" dirty="0"/>
              <a:t>The</a:t>
            </a:r>
            <a:r>
              <a:rPr sz="5350" spc="-320" dirty="0"/>
              <a:t> </a:t>
            </a:r>
            <a:r>
              <a:rPr sz="5350" spc="-25" dirty="0"/>
              <a:t>Result:</a:t>
            </a:r>
            <a:r>
              <a:rPr sz="5350" spc="-330" dirty="0"/>
              <a:t> </a:t>
            </a:r>
            <a:r>
              <a:rPr sz="5350" spc="-90" dirty="0"/>
              <a:t>Real-</a:t>
            </a:r>
            <a:r>
              <a:rPr sz="5350" spc="-25" dirty="0"/>
              <a:t>Time</a:t>
            </a:r>
            <a:r>
              <a:rPr sz="5350" spc="-85" dirty="0"/>
              <a:t> </a:t>
            </a:r>
            <a:r>
              <a:rPr sz="5350" dirty="0"/>
              <a:t>Situational</a:t>
            </a:r>
            <a:r>
              <a:rPr sz="5350" spc="190" dirty="0"/>
              <a:t> </a:t>
            </a:r>
            <a:r>
              <a:rPr sz="5350" spc="-10" dirty="0"/>
              <a:t>Awareness</a:t>
            </a:r>
            <a:endParaRPr sz="5350"/>
          </a:p>
        </p:txBody>
      </p:sp>
      <p:sp>
        <p:nvSpPr>
          <p:cNvPr id="14" name="object 14"/>
          <p:cNvSpPr txBox="1"/>
          <p:nvPr/>
        </p:nvSpPr>
        <p:spPr>
          <a:xfrm>
            <a:off x="839606" y="2229202"/>
            <a:ext cx="18053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1155" algn="l"/>
              </a:tabLst>
            </a:pPr>
            <a:r>
              <a:rPr sz="1600" spc="-50" dirty="0">
                <a:solidFill>
                  <a:srgbClr val="7E7E7E"/>
                </a:solidFill>
                <a:latin typeface="Arial MT"/>
                <a:cs typeface="Arial MT"/>
              </a:rPr>
              <a:t>=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	</a:t>
            </a:r>
            <a:r>
              <a:rPr sz="1600" dirty="0">
                <a:latin typeface="Arial MT"/>
                <a:cs typeface="Arial MT"/>
              </a:rPr>
              <a:t>Mission</a:t>
            </a:r>
            <a:r>
              <a:rPr sz="1600" spc="1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Control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7592" y="2729088"/>
            <a:ext cx="16065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95" dirty="0">
                <a:solidFill>
                  <a:srgbClr val="465B79"/>
                </a:solidFill>
                <a:latin typeface="Arial MT"/>
                <a:cs typeface="Arial MT"/>
              </a:rPr>
              <a:t>Tn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85063" y="2729088"/>
            <a:ext cx="69405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dirty="0">
                <a:latin typeface="Arial MT"/>
                <a:cs typeface="Arial MT"/>
              </a:rPr>
              <a:t>Live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Video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77250" y="8281810"/>
            <a:ext cx="1950085" cy="79629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75590" marR="5080" indent="-263525">
              <a:lnSpc>
                <a:spcPts val="2900"/>
              </a:lnSpc>
              <a:spcBef>
                <a:spcPts val="415"/>
              </a:spcBef>
            </a:pPr>
            <a:r>
              <a:rPr sz="2600" spc="-120" dirty="0">
                <a:latin typeface="Arial MT"/>
                <a:cs typeface="Arial MT"/>
              </a:rPr>
              <a:t>Live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210" dirty="0">
                <a:latin typeface="Arial MT"/>
                <a:cs typeface="Arial MT"/>
              </a:rPr>
              <a:t>HD</a:t>
            </a:r>
            <a:r>
              <a:rPr sz="2600" spc="20" dirty="0">
                <a:latin typeface="Arial MT"/>
                <a:cs typeface="Arial MT"/>
              </a:rPr>
              <a:t> </a:t>
            </a:r>
            <a:r>
              <a:rPr sz="2600" spc="-125" dirty="0">
                <a:latin typeface="Arial MT"/>
                <a:cs typeface="Arial MT"/>
              </a:rPr>
              <a:t>Video </a:t>
            </a:r>
            <a:r>
              <a:rPr sz="2600" spc="-20" dirty="0">
                <a:latin typeface="Arial MT"/>
                <a:cs typeface="Arial MT"/>
              </a:rPr>
              <a:t>Streaming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86384" y="8305800"/>
            <a:ext cx="3607435" cy="76835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071245" marR="5080" indent="-1059180">
              <a:lnSpc>
                <a:spcPts val="2850"/>
              </a:lnSpc>
              <a:spcBef>
                <a:spcPts val="320"/>
              </a:spcBef>
            </a:pPr>
            <a:r>
              <a:rPr sz="2500" spc="-25" dirty="0">
                <a:latin typeface="Arial MT"/>
                <a:cs typeface="Arial MT"/>
              </a:rPr>
              <a:t>Continuous</a:t>
            </a:r>
            <a:r>
              <a:rPr sz="2500" spc="-65" dirty="0">
                <a:latin typeface="Arial MT"/>
                <a:cs typeface="Arial MT"/>
              </a:rPr>
              <a:t> </a:t>
            </a:r>
            <a:r>
              <a:rPr sz="2500" spc="-70" dirty="0">
                <a:latin typeface="Arial MT"/>
                <a:cs typeface="Arial MT"/>
              </a:rPr>
              <a:t>Environmental </a:t>
            </a:r>
            <a:r>
              <a:rPr sz="2500" spc="-10" dirty="0">
                <a:latin typeface="Arial MT"/>
                <a:cs typeface="Arial MT"/>
              </a:rPr>
              <a:t>Monitoring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83409" y="2684991"/>
            <a:ext cx="311150" cy="523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140" dirty="0">
                <a:latin typeface="Arial MT"/>
                <a:cs typeface="Arial MT"/>
              </a:rPr>
              <a:t>oata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050" spc="-25" dirty="0">
                <a:latin typeface="Arial MT"/>
                <a:cs typeface="Arial MT"/>
              </a:rPr>
              <a:t>CO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79527" y="4742038"/>
            <a:ext cx="30289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25" dirty="0">
                <a:latin typeface="Arial MT"/>
                <a:cs typeface="Arial MT"/>
              </a:rPr>
              <a:t>Map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492781" y="2988380"/>
            <a:ext cx="2876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75" dirty="0">
                <a:latin typeface="Arial MT"/>
                <a:cs typeface="Arial MT"/>
              </a:rPr>
              <a:t>HO,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527144" y="8305800"/>
            <a:ext cx="2454910" cy="76835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indent="379730">
              <a:lnSpc>
                <a:spcPts val="2850"/>
              </a:lnSpc>
              <a:spcBef>
                <a:spcPts val="320"/>
              </a:spcBef>
            </a:pPr>
            <a:r>
              <a:rPr sz="2500" spc="-40" dirty="0">
                <a:latin typeface="Arial MT"/>
                <a:cs typeface="Arial MT"/>
              </a:rPr>
              <a:t>Precise</a:t>
            </a:r>
            <a:r>
              <a:rPr sz="2500" spc="-125" dirty="0">
                <a:latin typeface="Arial MT"/>
                <a:cs typeface="Arial MT"/>
              </a:rPr>
              <a:t> </a:t>
            </a:r>
            <a:r>
              <a:rPr sz="2500" spc="-280" dirty="0">
                <a:latin typeface="Arial MT"/>
                <a:cs typeface="Arial MT"/>
              </a:rPr>
              <a:t>GPS </a:t>
            </a:r>
            <a:r>
              <a:rPr sz="2500" spc="-10" dirty="0">
                <a:latin typeface="Arial MT"/>
                <a:cs typeface="Arial MT"/>
              </a:rPr>
              <a:t>Location</a:t>
            </a:r>
            <a:r>
              <a:rPr sz="2500" spc="-80" dirty="0">
                <a:latin typeface="Arial MT"/>
                <a:cs typeface="Arial MT"/>
              </a:rPr>
              <a:t> </a:t>
            </a:r>
            <a:r>
              <a:rPr sz="2500" spc="-65" dirty="0">
                <a:latin typeface="Arial MT"/>
                <a:cs typeface="Arial MT"/>
              </a:rPr>
              <a:t>Tracking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54760" y="8288160"/>
            <a:ext cx="1928495" cy="788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ts val="3010"/>
              </a:lnSpc>
              <a:spcBef>
                <a:spcPts val="135"/>
              </a:spcBef>
            </a:pPr>
            <a:r>
              <a:rPr sz="2600" spc="-145" dirty="0">
                <a:latin typeface="Arial MT"/>
                <a:cs typeface="Arial MT"/>
              </a:rPr>
              <a:t>Remote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spc="-160" dirty="0">
                <a:latin typeface="Arial MT"/>
                <a:cs typeface="Arial MT"/>
              </a:rPr>
              <a:t>Rover</a:t>
            </a:r>
            <a:endParaRPr sz="2600">
              <a:latin typeface="Arial MT"/>
              <a:cs typeface="Arial MT"/>
            </a:endParaRPr>
          </a:p>
          <a:p>
            <a:pPr marL="5080" algn="ctr">
              <a:lnSpc>
                <a:spcPts val="2950"/>
              </a:lnSpc>
            </a:pPr>
            <a:r>
              <a:rPr sz="2550" spc="-10" dirty="0">
                <a:latin typeface="Arial MT"/>
                <a:cs typeface="Arial MT"/>
              </a:rPr>
              <a:t>Control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2540000"/>
            <a:ext cx="3505200" cy="3505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83400" y="3124200"/>
            <a:ext cx="3721100" cy="2324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09500" y="2743200"/>
            <a:ext cx="3238500" cy="3225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2718" rIns="0" bIns="0" rtlCol="0">
            <a:spAutoFit/>
          </a:bodyPr>
          <a:lstStyle/>
          <a:p>
            <a:pPr marL="2244725">
              <a:lnSpc>
                <a:spcPct val="100000"/>
              </a:lnSpc>
              <a:spcBef>
                <a:spcPts val="130"/>
              </a:spcBef>
            </a:pPr>
            <a:r>
              <a:rPr spc="-150" dirty="0"/>
              <a:t>Key</a:t>
            </a:r>
            <a:r>
              <a:rPr spc="-335" dirty="0"/>
              <a:t> </a:t>
            </a:r>
            <a:r>
              <a:rPr dirty="0"/>
              <a:t>Learnings</a:t>
            </a:r>
            <a:r>
              <a:rPr spc="-190" dirty="0"/>
              <a:t> </a:t>
            </a:r>
            <a:r>
              <a:rPr dirty="0"/>
              <a:t>and</a:t>
            </a:r>
            <a:r>
              <a:rPr spc="-425" dirty="0"/>
              <a:t> </a:t>
            </a:r>
            <a:r>
              <a:rPr spc="-10" dirty="0"/>
              <a:t>Competencies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77841" y="6696075"/>
            <a:ext cx="4274185" cy="22586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125"/>
              </a:spcBef>
            </a:pPr>
            <a:r>
              <a:rPr sz="3100" spc="-70" dirty="0">
                <a:latin typeface="Arial MT"/>
                <a:cs typeface="Arial MT"/>
              </a:rPr>
              <a:t>Hardware</a:t>
            </a:r>
            <a:r>
              <a:rPr sz="3100" spc="-120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Integration</a:t>
            </a:r>
            <a:endParaRPr sz="3100">
              <a:latin typeface="Arial MT"/>
              <a:cs typeface="Arial MT"/>
            </a:endParaRPr>
          </a:p>
          <a:p>
            <a:pPr marL="272415" marR="5080" indent="-260350">
              <a:lnSpc>
                <a:spcPct val="107900"/>
              </a:lnSpc>
              <a:spcBef>
                <a:spcPts val="1855"/>
              </a:spcBef>
              <a:buChar char="•"/>
              <a:tabLst>
                <a:tab pos="275590" algn="l"/>
              </a:tabLst>
            </a:pPr>
            <a:r>
              <a:rPr sz="2350" spc="-30" dirty="0">
                <a:latin typeface="Arial MT"/>
                <a:cs typeface="Arial MT"/>
              </a:rPr>
              <a:t>Mastered</a:t>
            </a:r>
            <a:r>
              <a:rPr sz="2350" spc="-105" dirty="0">
                <a:latin typeface="Arial MT"/>
                <a:cs typeface="Arial MT"/>
              </a:rPr>
              <a:t> </a:t>
            </a:r>
            <a:r>
              <a:rPr sz="2350" spc="-45" dirty="0">
                <a:latin typeface="Arial MT"/>
                <a:cs typeface="Arial MT"/>
              </a:rPr>
              <a:t>sensor</a:t>
            </a:r>
            <a:r>
              <a:rPr sz="2350" spc="-7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calibration, 	</a:t>
            </a:r>
            <a:r>
              <a:rPr sz="2300" dirty="0">
                <a:latin typeface="Arial MT"/>
                <a:cs typeface="Arial MT"/>
              </a:rPr>
              <a:t>power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management,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and</a:t>
            </a:r>
            <a:r>
              <a:rPr sz="2300" spc="-155" dirty="0">
                <a:latin typeface="Arial MT"/>
                <a:cs typeface="Arial MT"/>
              </a:rPr>
              <a:t> </a:t>
            </a:r>
            <a:r>
              <a:rPr sz="2300" spc="-110" dirty="0">
                <a:latin typeface="Arial MT"/>
                <a:cs typeface="Arial MT"/>
              </a:rPr>
              <a:t>UART 	</a:t>
            </a:r>
            <a:r>
              <a:rPr sz="2300" spc="-20" dirty="0">
                <a:latin typeface="Arial MT"/>
                <a:cs typeface="Arial MT"/>
              </a:rPr>
              <a:t>serial</a:t>
            </a:r>
            <a:r>
              <a:rPr sz="2300" spc="-114" dirty="0">
                <a:latin typeface="Arial MT"/>
                <a:cs typeface="Arial MT"/>
              </a:rPr>
              <a:t> </a:t>
            </a:r>
            <a:r>
              <a:rPr sz="2300" spc="-15" dirty="0">
                <a:latin typeface="Arial MT"/>
                <a:cs typeface="Arial MT"/>
              </a:rPr>
              <a:t>communication</a:t>
            </a:r>
            <a:r>
              <a:rPr sz="2300" spc="-10" dirty="0">
                <a:latin typeface="Arial MT"/>
                <a:cs typeface="Arial MT"/>
              </a:rPr>
              <a:t> between 	modules.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0411" y="6696075"/>
            <a:ext cx="4331970" cy="22586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125"/>
              </a:spcBef>
            </a:pPr>
            <a:r>
              <a:rPr sz="3100" spc="-75" dirty="0">
                <a:latin typeface="Arial MT"/>
                <a:cs typeface="Arial MT"/>
              </a:rPr>
              <a:t>Embedded</a:t>
            </a:r>
            <a:r>
              <a:rPr sz="3100" spc="-110" dirty="0">
                <a:latin typeface="Arial MT"/>
                <a:cs typeface="Arial MT"/>
              </a:rPr>
              <a:t> </a:t>
            </a:r>
            <a:r>
              <a:rPr sz="3100" spc="-35" dirty="0">
                <a:latin typeface="Arial MT"/>
                <a:cs typeface="Arial MT"/>
              </a:rPr>
              <a:t>Programming</a:t>
            </a:r>
            <a:endParaRPr sz="3100">
              <a:latin typeface="Arial MT"/>
              <a:cs typeface="Arial MT"/>
            </a:endParaRPr>
          </a:p>
          <a:p>
            <a:pPr marL="275590" marR="5080" indent="-263525">
              <a:lnSpc>
                <a:spcPct val="108100"/>
              </a:lnSpc>
              <a:spcBef>
                <a:spcPts val="1905"/>
              </a:spcBef>
              <a:buChar char="•"/>
              <a:tabLst>
                <a:tab pos="275590" algn="l"/>
                <a:tab pos="278765" algn="l"/>
              </a:tabLst>
            </a:pPr>
            <a:r>
              <a:rPr sz="2300" dirty="0">
                <a:latin typeface="Arial MT"/>
                <a:cs typeface="Arial MT"/>
              </a:rPr>
              <a:t>	</a:t>
            </a:r>
            <a:r>
              <a:rPr sz="2300" spc="-65" dirty="0">
                <a:latin typeface="Arial MT"/>
                <a:cs typeface="Arial MT"/>
              </a:rPr>
              <a:t>Gained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proficiency</a:t>
            </a:r>
            <a:r>
              <a:rPr sz="2300" spc="65" dirty="0">
                <a:latin typeface="Arial MT"/>
                <a:cs typeface="Arial MT"/>
              </a:rPr>
              <a:t> </a:t>
            </a:r>
            <a:r>
              <a:rPr sz="2300" spc="50" dirty="0">
                <a:latin typeface="Arial MT"/>
                <a:cs typeface="Arial MT"/>
              </a:rPr>
              <a:t>in</a:t>
            </a:r>
            <a:r>
              <a:rPr sz="2300" spc="-16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handling real-</a:t>
            </a:r>
            <a:r>
              <a:rPr sz="2300" dirty="0">
                <a:latin typeface="Arial MT"/>
                <a:cs typeface="Arial MT"/>
              </a:rPr>
              <a:t>time</a:t>
            </a:r>
            <a:r>
              <a:rPr sz="2300" spc="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inputs,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interrupts,</a:t>
            </a:r>
            <a:r>
              <a:rPr sz="2300" spc="105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and </a:t>
            </a:r>
            <a:r>
              <a:rPr sz="2300" spc="-10" dirty="0">
                <a:latin typeface="Arial MT"/>
                <a:cs typeface="Arial MT"/>
              </a:rPr>
              <a:t>multi-</a:t>
            </a:r>
            <a:r>
              <a:rPr sz="2300" dirty="0">
                <a:latin typeface="Arial MT"/>
                <a:cs typeface="Arial MT"/>
              </a:rPr>
              <a:t>process</a:t>
            </a:r>
            <a:r>
              <a:rPr sz="2300" spc="17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optimization</a:t>
            </a:r>
            <a:r>
              <a:rPr sz="2300" spc="20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on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ESP32.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42371" y="6696075"/>
            <a:ext cx="4942205" cy="22586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45" dirty="0">
                <a:latin typeface="Arial MT"/>
                <a:cs typeface="Arial MT"/>
              </a:rPr>
              <a:t>Systematic</a:t>
            </a:r>
            <a:r>
              <a:rPr sz="3100" spc="-25" dirty="0">
                <a:latin typeface="Arial MT"/>
                <a:cs typeface="Arial MT"/>
              </a:rPr>
              <a:t> </a:t>
            </a:r>
            <a:r>
              <a:rPr sz="3100" spc="-10" dirty="0">
                <a:latin typeface="Arial MT"/>
                <a:cs typeface="Arial MT"/>
              </a:rPr>
              <a:t>Troubleshooting</a:t>
            </a:r>
            <a:endParaRPr sz="3100">
              <a:latin typeface="Arial MT"/>
              <a:cs typeface="Arial MT"/>
            </a:endParaRPr>
          </a:p>
          <a:p>
            <a:pPr marL="401320" marR="5080" indent="-260350">
              <a:lnSpc>
                <a:spcPct val="108100"/>
              </a:lnSpc>
              <a:spcBef>
                <a:spcPts val="1905"/>
              </a:spcBef>
              <a:buChar char="•"/>
              <a:tabLst>
                <a:tab pos="404495" algn="l"/>
              </a:tabLst>
            </a:pPr>
            <a:r>
              <a:rPr sz="2300" spc="-25" dirty="0">
                <a:latin typeface="Arial MT"/>
                <a:cs typeface="Arial MT"/>
              </a:rPr>
              <a:t>Developed</a:t>
            </a:r>
            <a:r>
              <a:rPr sz="2300" spc="-55" dirty="0">
                <a:latin typeface="Arial MT"/>
                <a:cs typeface="Arial MT"/>
              </a:rPr>
              <a:t> </a:t>
            </a:r>
            <a:r>
              <a:rPr sz="2300" spc="-160" dirty="0">
                <a:latin typeface="Arial MT"/>
                <a:cs typeface="Arial MT"/>
              </a:rPr>
              <a:t>a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rigorous</a:t>
            </a:r>
            <a:r>
              <a:rPr sz="2300" spc="-7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methodology 	</a:t>
            </a:r>
            <a:r>
              <a:rPr sz="2300" dirty="0">
                <a:latin typeface="Arial MT"/>
                <a:cs typeface="Arial MT"/>
              </a:rPr>
              <a:t>for</a:t>
            </a:r>
            <a:r>
              <a:rPr sz="2300" spc="-9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diagnosing</a:t>
            </a:r>
            <a:r>
              <a:rPr sz="2300" spc="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and</a:t>
            </a:r>
            <a:r>
              <a:rPr sz="2300" spc="-1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solving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complex 	</a:t>
            </a:r>
            <a:r>
              <a:rPr sz="2300" dirty="0">
                <a:latin typeface="Arial MT"/>
                <a:cs typeface="Arial MT"/>
              </a:rPr>
              <a:t>hardware/software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conflicts,</a:t>
            </a:r>
            <a:r>
              <a:rPr sz="2300" spc="240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from 	</a:t>
            </a:r>
            <a:r>
              <a:rPr sz="2300" spc="-30" dirty="0">
                <a:latin typeface="Arial MT"/>
                <a:cs typeface="Arial MT"/>
              </a:rPr>
              <a:t>signal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noise</a:t>
            </a:r>
            <a:r>
              <a:rPr sz="2300" spc="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to</a:t>
            </a:r>
            <a:r>
              <a:rPr sz="2300" spc="-160" dirty="0">
                <a:latin typeface="Arial MT"/>
                <a:cs typeface="Arial MT"/>
              </a:rPr>
              <a:t> </a:t>
            </a:r>
            <a:r>
              <a:rPr sz="2300" spc="-254" dirty="0">
                <a:latin typeface="Arial MT"/>
                <a:cs typeface="Arial MT"/>
              </a:rPr>
              <a:t>RF</a:t>
            </a:r>
            <a:r>
              <a:rPr sz="2300" spc="-10" dirty="0">
                <a:latin typeface="Arial MT"/>
                <a:cs typeface="Arial MT"/>
              </a:rPr>
              <a:t> interference.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5242" y="516113"/>
            <a:ext cx="11753850" cy="8616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450" spc="140" dirty="0">
                <a:solidFill>
                  <a:srgbClr val="282828"/>
                </a:solidFill>
              </a:rPr>
              <a:t>Project</a:t>
            </a:r>
            <a:r>
              <a:rPr sz="5450" spc="95" dirty="0">
                <a:solidFill>
                  <a:srgbClr val="282828"/>
                </a:solidFill>
              </a:rPr>
              <a:t> </a:t>
            </a:r>
            <a:r>
              <a:rPr sz="5450" spc="180" dirty="0">
                <a:solidFill>
                  <a:srgbClr val="282828"/>
                </a:solidFill>
              </a:rPr>
              <a:t>Status</a:t>
            </a:r>
            <a:r>
              <a:rPr sz="5450" spc="-200" dirty="0">
                <a:solidFill>
                  <a:srgbClr val="282828"/>
                </a:solidFill>
              </a:rPr>
              <a:t> </a:t>
            </a:r>
            <a:r>
              <a:rPr sz="5450" spc="204" dirty="0">
                <a:solidFill>
                  <a:srgbClr val="2A2A2A"/>
                </a:solidFill>
              </a:rPr>
              <a:t>and</a:t>
            </a:r>
            <a:r>
              <a:rPr sz="5450" spc="-455" dirty="0">
                <a:solidFill>
                  <a:srgbClr val="2A2A2A"/>
                </a:solidFill>
              </a:rPr>
              <a:t> </a:t>
            </a:r>
            <a:r>
              <a:rPr sz="5450" spc="125" dirty="0">
                <a:solidFill>
                  <a:srgbClr val="282828"/>
                </a:solidFill>
              </a:rPr>
              <a:t>Future</a:t>
            </a:r>
            <a:r>
              <a:rPr sz="5450" spc="-135" dirty="0">
                <a:solidFill>
                  <a:srgbClr val="282828"/>
                </a:solidFill>
              </a:rPr>
              <a:t> </a:t>
            </a:r>
            <a:r>
              <a:rPr sz="5450" spc="135" dirty="0">
                <a:solidFill>
                  <a:srgbClr val="282828"/>
                </a:solidFill>
              </a:rPr>
              <a:t>Trajectory</a:t>
            </a:r>
            <a:endParaRPr sz="5450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840930" y="2020113"/>
            <a:ext cx="7668070" cy="3438121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90"/>
              </a:spcBef>
            </a:pPr>
            <a:r>
              <a:rPr dirty="0"/>
              <a:t>Immediate</a:t>
            </a:r>
            <a:r>
              <a:rPr spc="40" dirty="0"/>
              <a:t> </a:t>
            </a:r>
            <a:r>
              <a:rPr dirty="0"/>
              <a:t>Next</a:t>
            </a:r>
            <a:r>
              <a:rPr spc="-60" dirty="0"/>
              <a:t> </a:t>
            </a:r>
            <a:r>
              <a:rPr spc="-10" dirty="0"/>
              <a:t>Steps</a:t>
            </a:r>
          </a:p>
          <a:p>
            <a:pPr marL="554990" marR="5080" indent="-245110" algn="just">
              <a:lnSpc>
                <a:spcPct val="94400"/>
              </a:lnSpc>
              <a:spcBef>
                <a:spcPts val="1230"/>
              </a:spcBef>
              <a:buChar char="•"/>
              <a:tabLst>
                <a:tab pos="563245" algn="l"/>
              </a:tabLst>
            </a:pPr>
            <a:r>
              <a:rPr sz="2500" dirty="0"/>
              <a:t>Final</a:t>
            </a:r>
            <a:r>
              <a:rPr sz="2500" spc="-125" dirty="0"/>
              <a:t> </a:t>
            </a:r>
            <a:r>
              <a:rPr sz="2500" spc="55" dirty="0"/>
              <a:t>Validation:</a:t>
            </a:r>
            <a:r>
              <a:rPr sz="2500" spc="114" dirty="0"/>
              <a:t> </a:t>
            </a:r>
            <a:r>
              <a:rPr sz="2500" spc="-30" dirty="0"/>
              <a:t>Perform</a:t>
            </a:r>
            <a:r>
              <a:rPr sz="2500" spc="75" dirty="0"/>
              <a:t> </a:t>
            </a:r>
            <a:r>
              <a:rPr sz="2500" dirty="0"/>
              <a:t>final,</a:t>
            </a:r>
            <a:r>
              <a:rPr sz="2500" spc="-45" dirty="0"/>
              <a:t> </a:t>
            </a:r>
            <a:r>
              <a:rPr sz="2500" spc="-10" dirty="0"/>
              <a:t>comprehensive 	</a:t>
            </a:r>
            <a:r>
              <a:rPr sz="2400" spc="45" dirty="0"/>
              <a:t>testing</a:t>
            </a:r>
            <a:r>
              <a:rPr sz="2400" spc="235" dirty="0"/>
              <a:t> </a:t>
            </a:r>
            <a:r>
              <a:rPr sz="2400" dirty="0"/>
              <a:t>of</a:t>
            </a:r>
            <a:r>
              <a:rPr sz="2400" spc="300" dirty="0"/>
              <a:t> </a:t>
            </a:r>
            <a:r>
              <a:rPr sz="2400" dirty="0"/>
              <a:t>the</a:t>
            </a:r>
            <a:r>
              <a:rPr sz="2400" spc="150" dirty="0"/>
              <a:t> </a:t>
            </a:r>
            <a:r>
              <a:rPr sz="2400" dirty="0"/>
              <a:t>fully</a:t>
            </a:r>
            <a:r>
              <a:rPr sz="2400" spc="100" dirty="0"/>
              <a:t> </a:t>
            </a:r>
            <a:r>
              <a:rPr sz="2400" dirty="0"/>
              <a:t>integrated</a:t>
            </a:r>
            <a:r>
              <a:rPr sz="2400" spc="300" dirty="0"/>
              <a:t> </a:t>
            </a:r>
            <a:r>
              <a:rPr sz="2400" dirty="0"/>
              <a:t>rover</a:t>
            </a:r>
            <a:r>
              <a:rPr sz="2400" spc="210" dirty="0"/>
              <a:t> </a:t>
            </a:r>
            <a:r>
              <a:rPr sz="2400" spc="95" dirty="0"/>
              <a:t>to</a:t>
            </a:r>
            <a:r>
              <a:rPr sz="2400" spc="110" dirty="0"/>
              <a:t> </a:t>
            </a:r>
            <a:r>
              <a:rPr sz="2400" dirty="0"/>
              <a:t>verify</a:t>
            </a:r>
            <a:r>
              <a:rPr sz="2400" spc="160" dirty="0"/>
              <a:t> </a:t>
            </a:r>
            <a:r>
              <a:rPr sz="2400" spc="-10" dirty="0"/>
              <a:t>reliable, 	</a:t>
            </a:r>
            <a:r>
              <a:rPr sz="2500" spc="-30" dirty="0"/>
              <a:t>simultaneous</a:t>
            </a:r>
            <a:r>
              <a:rPr sz="2500" spc="50" dirty="0"/>
              <a:t> </a:t>
            </a:r>
            <a:r>
              <a:rPr sz="2500" spc="-10" dirty="0"/>
              <a:t>operation</a:t>
            </a:r>
            <a:r>
              <a:rPr sz="2500" spc="10" dirty="0"/>
              <a:t> </a:t>
            </a:r>
            <a:r>
              <a:rPr sz="2500" dirty="0"/>
              <a:t>of</a:t>
            </a:r>
            <a:r>
              <a:rPr sz="2500" spc="-40" dirty="0"/>
              <a:t> </a:t>
            </a:r>
            <a:r>
              <a:rPr sz="2500" spc="-10" dirty="0"/>
              <a:t>all</a:t>
            </a:r>
            <a:r>
              <a:rPr sz="2500" spc="-125" dirty="0"/>
              <a:t> </a:t>
            </a:r>
            <a:r>
              <a:rPr sz="2500" spc="-10" dirty="0"/>
              <a:t>modules.</a:t>
            </a:r>
            <a:endParaRPr lang="en-IN" sz="2500" spc="-10" dirty="0"/>
          </a:p>
          <a:p>
            <a:pPr marL="309880" marR="5080" algn="just">
              <a:lnSpc>
                <a:spcPct val="94400"/>
              </a:lnSpc>
              <a:spcBef>
                <a:spcPts val="1230"/>
              </a:spcBef>
              <a:tabLst>
                <a:tab pos="563245" algn="l"/>
              </a:tabLst>
            </a:pPr>
            <a:endParaRPr sz="2500" dirty="0"/>
          </a:p>
          <a:p>
            <a:pPr marL="557530" indent="-259715" algn="just">
              <a:lnSpc>
                <a:spcPts val="2590"/>
              </a:lnSpc>
              <a:buChar char="•"/>
              <a:tabLst>
                <a:tab pos="557530" algn="l"/>
              </a:tabLst>
            </a:pPr>
            <a:r>
              <a:rPr sz="2400" spc="120" dirty="0"/>
              <a:t>Documentation:</a:t>
            </a:r>
            <a:r>
              <a:rPr sz="2400" spc="-75" dirty="0"/>
              <a:t> </a:t>
            </a:r>
            <a:r>
              <a:rPr sz="2400" dirty="0"/>
              <a:t>Complete</a:t>
            </a:r>
            <a:r>
              <a:rPr sz="2400" spc="185" dirty="0"/>
              <a:t> </a:t>
            </a:r>
            <a:r>
              <a:rPr sz="2400" dirty="0"/>
              <a:t>and</a:t>
            </a:r>
            <a:r>
              <a:rPr sz="2400" spc="190" dirty="0"/>
              <a:t> </a:t>
            </a:r>
            <a:r>
              <a:rPr sz="2400" dirty="0"/>
              <a:t>submit</a:t>
            </a:r>
            <a:r>
              <a:rPr sz="2400" spc="195" dirty="0"/>
              <a:t> </a:t>
            </a:r>
            <a:r>
              <a:rPr sz="2400" dirty="0"/>
              <a:t>all</a:t>
            </a:r>
            <a:r>
              <a:rPr sz="2400" spc="-35" dirty="0"/>
              <a:t> </a:t>
            </a:r>
            <a:r>
              <a:rPr sz="2400" spc="-10" dirty="0"/>
              <a:t>project</a:t>
            </a:r>
            <a:endParaRPr sz="2400" dirty="0"/>
          </a:p>
          <a:p>
            <a:pPr marL="570230" algn="just">
              <a:lnSpc>
                <a:spcPts val="2810"/>
              </a:lnSpc>
            </a:pPr>
            <a:r>
              <a:rPr sz="2500" spc="-10" dirty="0"/>
              <a:t>documentation,</a:t>
            </a:r>
            <a:r>
              <a:rPr sz="2500" spc="-165" dirty="0"/>
              <a:t> </a:t>
            </a:r>
            <a:r>
              <a:rPr sz="2500" dirty="0"/>
              <a:t>including</a:t>
            </a:r>
            <a:r>
              <a:rPr sz="2500" spc="-45" dirty="0"/>
              <a:t> </a:t>
            </a:r>
            <a:r>
              <a:rPr sz="2500" spc="-30" dirty="0"/>
              <a:t>schematics,</a:t>
            </a:r>
            <a:r>
              <a:rPr sz="2500" spc="75" dirty="0"/>
              <a:t> </a:t>
            </a:r>
            <a:r>
              <a:rPr sz="2500" spc="-20" dirty="0"/>
              <a:t>code</a:t>
            </a:r>
            <a:endParaRPr sz="2500" dirty="0"/>
          </a:p>
          <a:p>
            <a:pPr marL="561340" algn="just">
              <a:lnSpc>
                <a:spcPts val="2780"/>
              </a:lnSpc>
            </a:pPr>
            <a:r>
              <a:rPr sz="2400" dirty="0"/>
              <a:t>repositories,</a:t>
            </a:r>
            <a:r>
              <a:rPr sz="2400" spc="275" dirty="0"/>
              <a:t> </a:t>
            </a:r>
            <a:r>
              <a:rPr sz="2400" dirty="0"/>
              <a:t>and</a:t>
            </a:r>
            <a:r>
              <a:rPr sz="2400" spc="105" dirty="0"/>
              <a:t> </a:t>
            </a:r>
            <a:r>
              <a:rPr sz="2400" dirty="0"/>
              <a:t>final</a:t>
            </a:r>
            <a:r>
              <a:rPr sz="2400" spc="210" dirty="0"/>
              <a:t> </a:t>
            </a:r>
            <a:r>
              <a:rPr sz="2400" spc="-10" dirty="0"/>
              <a:t>reports.</a:t>
            </a:r>
            <a:endParaRPr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9012014" y="6296958"/>
            <a:ext cx="7726586" cy="2609047"/>
          </a:xfrm>
          <a:prstGeom prst="rect">
            <a:avLst/>
          </a:prstGeom>
        </p:spPr>
        <p:txBody>
          <a:bodyPr vert="horz" wrap="square" lIns="0" tIns="2114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2900" dirty="0">
                <a:latin typeface="Arial MT"/>
                <a:cs typeface="Arial MT"/>
              </a:rPr>
              <a:t>Future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Vision</a:t>
            </a:r>
            <a:endParaRPr sz="2900" dirty="0">
              <a:latin typeface="Arial MT"/>
              <a:cs typeface="Arial MT"/>
            </a:endParaRPr>
          </a:p>
          <a:p>
            <a:pPr marL="497205" indent="-254635" algn="just">
              <a:lnSpc>
                <a:spcPts val="2785"/>
              </a:lnSpc>
              <a:spcBef>
                <a:spcPts val="1270"/>
              </a:spcBef>
              <a:buChar char="•"/>
              <a:tabLst>
                <a:tab pos="497205" algn="l"/>
                <a:tab pos="4271010" algn="l"/>
              </a:tabLst>
            </a:pPr>
            <a:r>
              <a:rPr sz="2350" dirty="0">
                <a:latin typeface="Arial MT"/>
                <a:cs typeface="Arial MT"/>
              </a:rPr>
              <a:t>Implement</a:t>
            </a:r>
            <a:r>
              <a:rPr sz="2350" spc="26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basic</a:t>
            </a:r>
            <a:r>
              <a:rPr sz="2350" spc="204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autonomy</a:t>
            </a:r>
            <a:r>
              <a:rPr sz="2350" dirty="0">
                <a:latin typeface="Arial MT"/>
                <a:cs typeface="Arial MT"/>
              </a:rPr>
              <a:t>	</a:t>
            </a:r>
            <a:r>
              <a:rPr sz="2350" spc="65" dirty="0">
                <a:latin typeface="Arial MT"/>
                <a:cs typeface="Arial MT"/>
              </a:rPr>
              <a:t>with</a:t>
            </a:r>
            <a:r>
              <a:rPr sz="2350" dirty="0">
                <a:latin typeface="Arial MT"/>
                <a:cs typeface="Arial MT"/>
              </a:rPr>
              <a:t> </a:t>
            </a:r>
            <a:r>
              <a:rPr sz="2350" spc="50" dirty="0">
                <a:latin typeface="Arial MT"/>
                <a:cs typeface="Arial MT"/>
              </a:rPr>
              <a:t>on-</a:t>
            </a:r>
            <a:r>
              <a:rPr sz="2350" spc="45" dirty="0">
                <a:latin typeface="Arial MT"/>
                <a:cs typeface="Arial MT"/>
              </a:rPr>
              <a:t>board</a:t>
            </a:r>
            <a:endParaRPr sz="2350" dirty="0">
              <a:latin typeface="Arial MT"/>
              <a:cs typeface="Arial MT"/>
            </a:endParaRPr>
          </a:p>
          <a:p>
            <a:pPr marL="502284" algn="just">
              <a:lnSpc>
                <a:spcPts val="2780"/>
              </a:lnSpc>
            </a:pPr>
            <a:r>
              <a:rPr sz="2400" dirty="0">
                <a:latin typeface="Arial MT"/>
                <a:cs typeface="Arial MT"/>
              </a:rPr>
              <a:t>obstacle</a:t>
            </a:r>
            <a:r>
              <a:rPr sz="2400" spc="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avoidance.</a:t>
            </a:r>
            <a:endParaRPr lang="en-IN" sz="2400" spc="-10" dirty="0">
              <a:latin typeface="Arial MT"/>
              <a:cs typeface="Arial MT"/>
            </a:endParaRPr>
          </a:p>
          <a:p>
            <a:pPr marL="502284" algn="just">
              <a:lnSpc>
                <a:spcPts val="2780"/>
              </a:lnSpc>
            </a:pPr>
            <a:endParaRPr sz="2400" dirty="0">
              <a:latin typeface="Arial MT"/>
              <a:cs typeface="Arial MT"/>
            </a:endParaRPr>
          </a:p>
          <a:p>
            <a:pPr marL="502284" indent="-259715" algn="just">
              <a:lnSpc>
                <a:spcPts val="2720"/>
              </a:lnSpc>
              <a:buChar char="•"/>
              <a:tabLst>
                <a:tab pos="502284" algn="l"/>
              </a:tabLst>
            </a:pPr>
            <a:r>
              <a:rPr sz="2350" dirty="0">
                <a:latin typeface="Arial MT"/>
                <a:cs typeface="Arial MT"/>
              </a:rPr>
              <a:t>Design</a:t>
            </a:r>
            <a:r>
              <a:rPr sz="2350" spc="31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</a:t>
            </a:r>
            <a:r>
              <a:rPr sz="2350" spc="16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more</a:t>
            </a:r>
            <a:r>
              <a:rPr sz="2350" spc="26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robust,</a:t>
            </a:r>
            <a:r>
              <a:rPr sz="2350" spc="229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environmentally-</a:t>
            </a:r>
            <a:r>
              <a:rPr sz="2350" spc="-10" dirty="0">
                <a:latin typeface="Arial MT"/>
                <a:cs typeface="Arial MT"/>
              </a:rPr>
              <a:t>sealed</a:t>
            </a:r>
            <a:endParaRPr sz="2350" dirty="0">
              <a:latin typeface="Arial MT"/>
              <a:cs typeface="Arial MT"/>
            </a:endParaRPr>
          </a:p>
          <a:p>
            <a:pPr marL="500380" algn="just">
              <a:lnSpc>
                <a:spcPts val="2845"/>
              </a:lnSpc>
            </a:pPr>
            <a:r>
              <a:rPr sz="2400" dirty="0">
                <a:latin typeface="Arial MT"/>
                <a:cs typeface="Arial MT"/>
              </a:rPr>
              <a:t>chassis</a:t>
            </a:r>
            <a:r>
              <a:rPr sz="2400" spc="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real-world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deployment.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6704" y="8147989"/>
            <a:ext cx="952500" cy="1231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50770" y="8147989"/>
            <a:ext cx="927100" cy="939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00454" y="637116"/>
            <a:ext cx="9661525" cy="10323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sz="6600" spc="210" dirty="0">
                <a:solidFill>
                  <a:srgbClr val="212121"/>
                </a:solidFill>
              </a:rPr>
              <a:t>Acknowledgements</a:t>
            </a:r>
            <a:endParaRPr sz="6600" dirty="0"/>
          </a:p>
        </p:txBody>
      </p:sp>
      <p:sp>
        <p:nvSpPr>
          <p:cNvPr id="5" name="object 5"/>
          <p:cNvSpPr txBox="1"/>
          <p:nvPr/>
        </p:nvSpPr>
        <p:spPr>
          <a:xfrm>
            <a:off x="2870200" y="2328893"/>
            <a:ext cx="12285345" cy="114518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69970" marR="5080" indent="-3557904">
              <a:lnSpc>
                <a:spcPts val="4150"/>
              </a:lnSpc>
              <a:spcBef>
                <a:spcPts val="530"/>
              </a:spcBef>
            </a:pPr>
            <a:r>
              <a:rPr sz="3750" spc="-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375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</a:t>
            </a:r>
            <a:r>
              <a:rPr sz="3750" spc="-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sz="375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75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sincere</a:t>
            </a:r>
            <a:r>
              <a:rPr sz="375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gratitude</a:t>
            </a:r>
            <a:r>
              <a:rPr sz="375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75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750" spc="-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75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invaluable</a:t>
            </a:r>
            <a:r>
              <a:rPr sz="375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75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 </a:t>
            </a:r>
            <a:r>
              <a:rPr sz="3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750" spc="-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75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sz="375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75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</a:t>
            </a:r>
            <a:r>
              <a:rPr sz="3750"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75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sz="3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5819" y="4265897"/>
            <a:ext cx="4954270" cy="24513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9525" algn="ctr">
              <a:lnSpc>
                <a:spcPct val="100000"/>
              </a:lnSpc>
              <a:spcBef>
                <a:spcPts val="95"/>
              </a:spcBef>
            </a:pPr>
            <a:r>
              <a:rPr sz="4450" b="1" spc="120" dirty="0">
                <a:solidFill>
                  <a:srgbClr val="1F1F1F"/>
                </a:solidFill>
                <a:latin typeface="Arial MT"/>
                <a:cs typeface="Arial MT"/>
              </a:rPr>
              <a:t>Faculty</a:t>
            </a:r>
            <a:r>
              <a:rPr sz="4450" b="1" spc="-1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4450" b="1" spc="125" dirty="0">
                <a:solidFill>
                  <a:srgbClr val="212121"/>
                </a:solidFill>
                <a:latin typeface="Arial MT"/>
                <a:cs typeface="Arial MT"/>
              </a:rPr>
              <a:t>Mentor</a:t>
            </a:r>
            <a:endParaRPr lang="en-IN" sz="4450" b="1" spc="125" dirty="0">
              <a:solidFill>
                <a:srgbClr val="212121"/>
              </a:solidFill>
              <a:latin typeface="Arial MT"/>
              <a:cs typeface="Arial MT"/>
            </a:endParaRPr>
          </a:p>
          <a:p>
            <a:pPr algn="ctr">
              <a:spcBef>
                <a:spcPts val="2960"/>
              </a:spcBef>
            </a:pPr>
            <a:r>
              <a:rPr lang="en-IN"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Ravi Raja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2960"/>
              </a:spcBef>
            </a:pPr>
            <a:r>
              <a:rPr sz="3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sz="3200"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</a:t>
            </a:r>
            <a:r>
              <a:rPr sz="3200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Fayaz</a:t>
            </a:r>
            <a:r>
              <a:rPr sz="32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Ahamed</a:t>
            </a:r>
            <a:endParaRPr lang="en-IN" sz="3200" spc="-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03400" y="6801831"/>
            <a:ext cx="6557645" cy="111760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54000" marR="5080" indent="-241300" algn="just">
              <a:lnSpc>
                <a:spcPts val="4100"/>
              </a:lnSpc>
              <a:spcBef>
                <a:spcPts val="570"/>
              </a:spcBef>
            </a:pPr>
            <a:r>
              <a:rPr sz="3600" spc="-55" dirty="0">
                <a:latin typeface="Arial MT"/>
                <a:cs typeface="Arial MT"/>
              </a:rPr>
              <a:t>Associate</a:t>
            </a:r>
            <a:r>
              <a:rPr sz="3600" spc="-195" dirty="0">
                <a:latin typeface="Arial MT"/>
                <a:cs typeface="Arial MT"/>
              </a:rPr>
              <a:t> </a:t>
            </a:r>
            <a:r>
              <a:rPr sz="3600" spc="-85" dirty="0">
                <a:latin typeface="Arial MT"/>
                <a:cs typeface="Arial MT"/>
              </a:rPr>
              <a:t>Professor, </a:t>
            </a:r>
            <a:r>
              <a:rPr sz="3600" spc="-65" dirty="0">
                <a:latin typeface="Arial MT"/>
                <a:cs typeface="Arial MT"/>
              </a:rPr>
              <a:t>Siddhartha </a:t>
            </a:r>
            <a:r>
              <a:rPr sz="3600" spc="-95" dirty="0">
                <a:latin typeface="Arial MT"/>
                <a:cs typeface="Arial MT"/>
              </a:rPr>
              <a:t>Academy</a:t>
            </a:r>
            <a:r>
              <a:rPr sz="3600" spc="-1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of</a:t>
            </a:r>
            <a:r>
              <a:rPr sz="3600" spc="-220" dirty="0">
                <a:latin typeface="Arial MT"/>
                <a:cs typeface="Arial MT"/>
              </a:rPr>
              <a:t> </a:t>
            </a:r>
            <a:r>
              <a:rPr sz="3600" spc="-60" dirty="0">
                <a:latin typeface="Arial MT"/>
                <a:cs typeface="Arial MT"/>
              </a:rPr>
              <a:t>Higher</a:t>
            </a:r>
            <a:r>
              <a:rPr sz="3600" spc="-5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Education</a:t>
            </a:r>
            <a:r>
              <a:rPr lang="en-IN" sz="3600" spc="-10" dirty="0">
                <a:latin typeface="Arial MT"/>
                <a:cs typeface="Arial MT"/>
              </a:rPr>
              <a:t>.</a:t>
            </a:r>
            <a:endParaRPr sz="36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32892" y="4263812"/>
            <a:ext cx="6836811" cy="21973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450" b="1" spc="145" dirty="0">
                <a:solidFill>
                  <a:srgbClr val="1D1D1D"/>
                </a:solidFill>
                <a:latin typeface="Arial MT"/>
                <a:cs typeface="Arial MT"/>
              </a:rPr>
              <a:t>Supporting</a:t>
            </a:r>
            <a:r>
              <a:rPr sz="4450" b="1" spc="-5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4450" b="1" spc="190" dirty="0">
                <a:solidFill>
                  <a:srgbClr val="1C1C1C"/>
                </a:solidFill>
                <a:latin typeface="Arial MT"/>
                <a:cs typeface="Arial MT"/>
              </a:rPr>
              <a:t>Institution</a:t>
            </a:r>
            <a:endParaRPr sz="4450" b="1" dirty="0">
              <a:latin typeface="Arial MT"/>
              <a:cs typeface="Arial MT"/>
            </a:endParaRPr>
          </a:p>
          <a:p>
            <a:pPr marL="151765" marR="121920" algn="ctr">
              <a:lnSpc>
                <a:spcPts val="4150"/>
              </a:lnSpc>
              <a:spcBef>
                <a:spcPts val="3290"/>
              </a:spcBef>
            </a:pPr>
            <a:r>
              <a:rPr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sz="32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4000" y="6714963"/>
            <a:ext cx="6141720" cy="116014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923414" marR="5080" indent="-1911350" algn="just">
              <a:lnSpc>
                <a:spcPts val="4100"/>
              </a:lnSpc>
              <a:spcBef>
                <a:spcPts val="844"/>
              </a:spcBef>
            </a:pPr>
            <a:r>
              <a:rPr sz="3600" spc="-270" dirty="0">
                <a:latin typeface="Arial MT"/>
                <a:cs typeface="Arial MT"/>
              </a:rPr>
              <a:t>IIT</a:t>
            </a:r>
            <a:r>
              <a:rPr sz="3600" spc="85" dirty="0">
                <a:latin typeface="Arial MT"/>
                <a:cs typeface="Arial MT"/>
              </a:rPr>
              <a:t> </a:t>
            </a:r>
            <a:r>
              <a:rPr sz="3600" spc="-150" dirty="0">
                <a:latin typeface="Arial MT"/>
                <a:cs typeface="Arial MT"/>
              </a:rPr>
              <a:t>Tirupati</a:t>
            </a:r>
            <a:r>
              <a:rPr sz="3600" spc="-35" dirty="0">
                <a:latin typeface="Arial MT"/>
                <a:cs typeface="Arial MT"/>
              </a:rPr>
              <a:t> </a:t>
            </a:r>
            <a:r>
              <a:rPr sz="3600" spc="-265" dirty="0">
                <a:latin typeface="Arial MT"/>
                <a:cs typeface="Arial MT"/>
              </a:rPr>
              <a:t>Navavishkar</a:t>
            </a:r>
            <a:r>
              <a:rPr sz="3600" spc="355" dirty="0">
                <a:latin typeface="Arial MT"/>
                <a:cs typeface="Arial MT"/>
              </a:rPr>
              <a:t> </a:t>
            </a:r>
            <a:r>
              <a:rPr sz="3600" spc="-110" dirty="0">
                <a:latin typeface="Arial MT"/>
                <a:cs typeface="Arial MT"/>
              </a:rPr>
              <a:t>I-</a:t>
            </a:r>
            <a:r>
              <a:rPr sz="3600" spc="-100" dirty="0">
                <a:latin typeface="Arial MT"/>
                <a:cs typeface="Arial MT"/>
              </a:rPr>
              <a:t>Hub </a:t>
            </a:r>
            <a:r>
              <a:rPr sz="3600" spc="-125" dirty="0">
                <a:latin typeface="Arial MT"/>
                <a:cs typeface="Arial MT"/>
              </a:rPr>
              <a:t>Foundation</a:t>
            </a:r>
            <a:endParaRPr sz="36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84860" y="8399780"/>
            <a:ext cx="1565910" cy="6880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IIT</a:t>
            </a:r>
            <a:r>
              <a:rPr sz="15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Tirupati</a:t>
            </a:r>
            <a:endParaRPr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335">
              <a:lnSpc>
                <a:spcPct val="100000"/>
              </a:lnSpc>
              <a:spcBef>
                <a:spcPts val="1650"/>
              </a:spcBef>
            </a:pPr>
            <a:r>
              <a:rPr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I-Hu</a:t>
            </a:r>
            <a:r>
              <a:rPr sz="1450" b="1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450" b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5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</a:t>
            </a:r>
            <a:endParaRPr sz="1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7475200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43022" cy="97536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5" name="Picture 24" descr="A notepad with purple writing on it next to a pen and a gift&#10;&#10;AI-generated content may be incorrect.">
            <a:extLst>
              <a:ext uri="{FF2B5EF4-FFF2-40B4-BE49-F238E27FC236}">
                <a16:creationId xmlns:a16="http://schemas.microsoft.com/office/drawing/2014/main" id="{C10C0D96-955F-9895-0967-2E67FE0F9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960" y="915154"/>
            <a:ext cx="11914727" cy="79232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831</Words>
  <Application>Microsoft Office PowerPoint</Application>
  <PresentationFormat>Custom</PresentationFormat>
  <Paragraphs>123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Arial MT</vt:lpstr>
      <vt:lpstr>Bookman Old Style</vt:lpstr>
      <vt:lpstr>Calibri</vt:lpstr>
      <vt:lpstr>Courier New</vt:lpstr>
      <vt:lpstr>Times New Roman</vt:lpstr>
      <vt:lpstr>Office Theme</vt:lpstr>
      <vt:lpstr>PowerPoint Presentation</vt:lpstr>
      <vt:lpstr>The Critical Need for Automation in Hazardous Environments</vt:lpstr>
      <vt:lpstr>Our Solution: A Robotic First Responder</vt:lpstr>
      <vt:lpstr>System Architecture</vt:lpstr>
      <vt:lpstr>The Build, Part 1: From Raw Signals to Reliable Senses</vt:lpstr>
      <vt:lpstr>The Build, Part 2: Achieving Positional Awareness</vt:lpstr>
      <vt:lpstr>The Build, Part</vt:lpstr>
      <vt:lpstr>The Build, Part 4: A Foundation for Reliability</vt:lpstr>
      <vt:lpstr>The Result: Real-Time Situational Awareness</vt:lpstr>
      <vt:lpstr>Key Learnings and Competencies</vt:lpstr>
      <vt:lpstr>Project Status and Future Trajectory</vt:lpstr>
      <vt:lpstr>Acknowledgements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Rajeswari Rajavarapu</dc:creator>
  <cp:lastModifiedBy>Rajavarapu, Latha Madhuri</cp:lastModifiedBy>
  <cp:revision>1</cp:revision>
  <dcterms:created xsi:type="dcterms:W3CDTF">2025-12-22T17:27:26Z</dcterms:created>
  <dcterms:modified xsi:type="dcterms:W3CDTF">2025-12-22T18:01:54Z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2025-12-22T00:00:00Z</vt:filetime>
  </property>
  <property fmtid="{D5CDD505-2E9C-101B-9397-08002B2CF9AE}" pid="3" name="LastSaved">
    <vt:filetime>2025-12-22T00:00:00Z</vt:filetime>
  </property>
</Properties>
</file>